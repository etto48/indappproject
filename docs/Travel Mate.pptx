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7"/>
  </p:notesMasterIdLst>
  <p:handoutMasterIdLst>
    <p:handoutMasterId r:id="rId48"/>
  </p:handoutMasterIdLst>
  <p:sldIdLst>
    <p:sldId id="256" r:id="rId5"/>
    <p:sldId id="257" r:id="rId6"/>
    <p:sldId id="263" r:id="rId7"/>
    <p:sldId id="258" r:id="rId8"/>
    <p:sldId id="260" r:id="rId9"/>
    <p:sldId id="278" r:id="rId10"/>
    <p:sldId id="279" r:id="rId11"/>
    <p:sldId id="280" r:id="rId12"/>
    <p:sldId id="281" r:id="rId13"/>
    <p:sldId id="282" r:id="rId14"/>
    <p:sldId id="287" r:id="rId15"/>
    <p:sldId id="288" r:id="rId16"/>
    <p:sldId id="289" r:id="rId17"/>
    <p:sldId id="290" r:id="rId18"/>
    <p:sldId id="304" r:id="rId19"/>
    <p:sldId id="303" r:id="rId20"/>
    <p:sldId id="302" r:id="rId21"/>
    <p:sldId id="301" r:id="rId22"/>
    <p:sldId id="300" r:id="rId23"/>
    <p:sldId id="270" r:id="rId24"/>
    <p:sldId id="305" r:id="rId25"/>
    <p:sldId id="306" r:id="rId26"/>
    <p:sldId id="307" r:id="rId27"/>
    <p:sldId id="311" r:id="rId28"/>
    <p:sldId id="310" r:id="rId29"/>
    <p:sldId id="309" r:id="rId30"/>
    <p:sldId id="308" r:id="rId31"/>
    <p:sldId id="315" r:id="rId32"/>
    <p:sldId id="314" r:id="rId33"/>
    <p:sldId id="313" r:id="rId34"/>
    <p:sldId id="312" r:id="rId35"/>
    <p:sldId id="283" r:id="rId36"/>
    <p:sldId id="293" r:id="rId37"/>
    <p:sldId id="267" r:id="rId38"/>
    <p:sldId id="291" r:id="rId39"/>
    <p:sldId id="286" r:id="rId40"/>
    <p:sldId id="285" r:id="rId41"/>
    <p:sldId id="262" r:id="rId42"/>
    <p:sldId id="294" r:id="rId43"/>
    <p:sldId id="277" r:id="rId44"/>
    <p:sldId id="271" r:id="rId45"/>
    <p:sldId id="27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969696"/>
    <a:srgbClr val="B3B3B3"/>
    <a:srgbClr val="FF0000"/>
    <a:srgbClr val="FF0004"/>
    <a:srgbClr val="E5C2FF"/>
    <a:srgbClr val="570194"/>
    <a:srgbClr val="3C6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981BED-A5FB-657C-55D8-48782A5F7940}" v="6188" dt="2025-07-29T18:59:06.328"/>
    <p1510:client id="{EEC42827-613D-83E0-8E64-FEBD2B8A2398}" v="1374" dt="2025-07-29T22:45:21.492"/>
  </p1510:revLst>
</p1510:revInfo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047056-A4A4-49C6-B53A-A3B5AD2C9E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6B0B6-1521-4655-A849-832BDEEDBB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A7818-9FD1-4A4A-BBB8-A8F7A885158A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D0097-1060-4E43-8794-A93E30064A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457E5-A2BA-4F1E-ACE4-06A1C8C83D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95B5C-AE81-486B-8299-C690ADF08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322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68347-4327-4298-850E-31E39F309FB1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2D2F8-28A7-48E8-ADD3-E9583D47D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1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581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7F6B47B-FE57-44F5-B5A8-26DF978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9444BC-BA6E-47AE-9F54-D7B7A49832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5674" y="1327759"/>
            <a:ext cx="4989628" cy="1929505"/>
          </a:xfrm>
          <a:prstGeom prst="rect">
            <a:avLst/>
          </a:prstGeom>
        </p:spPr>
        <p:txBody>
          <a:bodyPr anchor="b"/>
          <a:lstStyle>
            <a:lvl1pPr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ACD8B9-402D-4E40-BE1F-410604448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934" y="3257264"/>
            <a:ext cx="4989628" cy="816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08032896"/>
      </p:ext>
    </p:extLst>
  </p:cSld>
  <p:clrMapOvr>
    <a:masterClrMapping/>
  </p:clrMapOvr>
  <p:transition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65AAE033-7EA4-4A87-A126-29FE42764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A5F6FE17-A48F-4A3E-8719-1DE83CD6B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62048" y="1199853"/>
            <a:ext cx="3929901" cy="392990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F73882-4B79-419D-89EE-4B7CED18D9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623" y="2210810"/>
            <a:ext cx="4579970" cy="53803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F50E1F4-245D-4104-AFDB-25D35D7C5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4661" y="2747550"/>
            <a:ext cx="5309918" cy="28720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3A2FF74-415E-49BB-B2ED-E04C7B50BD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63453" y="1433033"/>
            <a:ext cx="3527091" cy="3463540"/>
          </a:xfrm>
          <a:prstGeom prst="ellipse">
            <a:avLst/>
          </a:prstGeom>
        </p:spPr>
        <p:txBody>
          <a:bodyPr/>
          <a:lstStyle>
            <a:lvl1pPr marL="0" indent="0" algn="ctr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1847553A-14C8-45EB-88C7-05CE63B7E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E7FABA93-7D08-4CFE-B3A8-D44B1A0F3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FBD26C03-0B97-464A-A39C-A1F339DBA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260922238"/>
      </p:ext>
    </p:extLst>
  </p:cSld>
  <p:clrMapOvr>
    <a:masterClrMapping/>
  </p:clrMapOvr>
  <p:transition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C80EFA4-265B-48D2-AE72-8585EEED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648289-A550-4F4F-96C8-3D82FCE94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069" y="695093"/>
            <a:ext cx="4919354" cy="66749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3EEFC4F-DE64-450E-9DD5-65D08E123C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9594" y="1873815"/>
            <a:ext cx="2556579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38C58F5B-7BA2-42E8-B66A-4561678ADD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99595" y="2178444"/>
            <a:ext cx="2556579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6743AAE-DD8A-4954-B033-100DF6D975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997" y="1873815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7B5D3C5-66A2-486B-9B1D-A7075D150C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8997" y="2178444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D063EDB-47FD-44F8-9344-12CBC2AE0B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9595" y="4071261"/>
            <a:ext cx="2556577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4586DE3-CDE9-4337-A49D-C1031595E3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96" y="4383943"/>
            <a:ext cx="2556577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64F0745D-06FC-4840-B9DF-3176DEDA6F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8997" y="4071261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F29A1EC1-1F01-46ED-BF67-15FE9E120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8997" y="4375890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1" name="Footer Placeholder 15">
            <a:extLst>
              <a:ext uri="{FF2B5EF4-FFF2-40B4-BE49-F238E27FC236}">
                <a16:creationId xmlns:a16="http://schemas.microsoft.com/office/drawing/2014/main" id="{B2A74AF7-DFFE-4795-8CF0-8C90F6C3E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2" name="Slide Number Placeholder 16">
            <a:extLst>
              <a:ext uri="{FF2B5EF4-FFF2-40B4-BE49-F238E27FC236}">
                <a16:creationId xmlns:a16="http://schemas.microsoft.com/office/drawing/2014/main" id="{13F4D90B-645E-4CFF-8AA0-91C269845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3" name="Date Placeholder 14">
            <a:extLst>
              <a:ext uri="{FF2B5EF4-FFF2-40B4-BE49-F238E27FC236}">
                <a16:creationId xmlns:a16="http://schemas.microsoft.com/office/drawing/2014/main" id="{21EA3114-5B31-47ED-9AB6-EE59E5803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074144488"/>
      </p:ext>
    </p:extLst>
  </p:cSld>
  <p:clrMapOvr>
    <a:masterClrMapping/>
  </p:clrMapOvr>
  <p:transition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6D81B66-9FC1-4E48-808B-98B1726D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747F51C0-908A-420C-B5BC-5685D0E952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9716" y="1823625"/>
            <a:ext cx="4719884" cy="58003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835D01-B0D4-49D8-B947-C2062305C5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005" y="4230943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0B4ACDBA-7606-44B8-B1E1-C4750F8952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005" y="4546458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D24600D7-8A94-406B-9274-351140BE27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7502" y="4234631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FE6844F-9BC3-4E56-82B1-0B53BE292B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7503" y="4550146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105C7AE2-E0F2-4EA9-B804-774B125FB0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4B70930A-D98B-43B3-BC32-B48D9D7F0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00DE4BC-2A21-4C62-8F5C-AFE1D0AEDF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6967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EEFD44C-4B64-4246-BC04-76812ED5E0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46967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AB492A3E-766F-42FE-A5F7-88807B595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84AE79C-95F2-4A84-B62A-95B076FB0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1C2E5CE3-E252-4255-BF5E-8B4F1F3A1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E5C588-A831-4EB3-BFDF-78002F7D550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08479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6" name="Picture Placeholder 13">
            <a:extLst>
              <a:ext uri="{FF2B5EF4-FFF2-40B4-BE49-F238E27FC236}">
                <a16:creationId xmlns:a16="http://schemas.microsoft.com/office/drawing/2014/main" id="{AD31BE3F-B09E-4BCC-947F-3D4DB153E35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66976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13">
            <a:extLst>
              <a:ext uri="{FF2B5EF4-FFF2-40B4-BE49-F238E27FC236}">
                <a16:creationId xmlns:a16="http://schemas.microsoft.com/office/drawing/2014/main" id="{0BF7BBBD-C42C-408E-8F10-7B1BF3C53EF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972085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13">
            <a:extLst>
              <a:ext uri="{FF2B5EF4-FFF2-40B4-BE49-F238E27FC236}">
                <a16:creationId xmlns:a16="http://schemas.microsoft.com/office/drawing/2014/main" id="{74FF5159-7129-4F52-B5B7-13F2D04EAD3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109232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10452"/>
      </p:ext>
    </p:extLst>
  </p:cSld>
  <p:clrMapOvr>
    <a:masterClrMapping/>
  </p:clrMapOvr>
  <p:transition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4076C2D-3CFB-4EFB-8012-9F6E65333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1D3A9EE-57EE-476A-A657-3A4019818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218" y="690802"/>
            <a:ext cx="4936277" cy="575890"/>
          </a:xfrm>
          <a:prstGeom prst="rect">
            <a:avLst/>
          </a:prstGeom>
        </p:spPr>
        <p:txBody>
          <a:bodyPr/>
          <a:lstStyle>
            <a:lvl1pPr algn="l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A0CB777-EF14-4BA6-A19D-697B165B1D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006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0053894D-FD48-4BB5-84D8-2EE54EC8D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006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32A7FBEC-71F7-4A1F-82A1-C7FBFE0518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1397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00EDBC93-E454-47AD-B9C9-E7CCE8DE6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397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Text Placeholder 14">
            <a:extLst>
              <a:ext uri="{FF2B5EF4-FFF2-40B4-BE49-F238E27FC236}">
                <a16:creationId xmlns:a16="http://schemas.microsoft.com/office/drawing/2014/main" id="{E792D94E-72D4-43F1-8063-14A3F6270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0069" y="504430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C18EBA8F-5A95-4501-A602-A9889F0CE3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0069" y="533761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AF03D6DF-70BB-4EC0-B7BF-94BB780FDF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3980" y="5047681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A21FAF3A-556C-4A61-B1C4-E6FB98BE40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13980" y="5340990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Footer Placeholder 15">
            <a:extLst>
              <a:ext uri="{FF2B5EF4-FFF2-40B4-BE49-F238E27FC236}">
                <a16:creationId xmlns:a16="http://schemas.microsoft.com/office/drawing/2014/main" id="{54442D89-5EE7-4BC5-A35D-B0F93DD36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3" name="Slide Number Placeholder 16">
            <a:extLst>
              <a:ext uri="{FF2B5EF4-FFF2-40B4-BE49-F238E27FC236}">
                <a16:creationId xmlns:a16="http://schemas.microsoft.com/office/drawing/2014/main" id="{DC13E404-DE29-4300-A8D5-25F34585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Date Placeholder 14">
            <a:extLst>
              <a:ext uri="{FF2B5EF4-FFF2-40B4-BE49-F238E27FC236}">
                <a16:creationId xmlns:a16="http://schemas.microsoft.com/office/drawing/2014/main" id="{1EAC24B5-8E72-46CA-9A6A-4A6D6EA2C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F11D19-3D38-460E-A8AF-F6A30642EC0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19006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F915DDB2-3A13-4240-8ECB-677499946C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1397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9059CA0-144F-4780-BA0D-005B827AAEC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90069" y="428183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B770164C-988C-4217-B0E9-7D0DC17C8BC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08115" y="4294030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24145"/>
      </p:ext>
    </p:extLst>
  </p:cSld>
  <p:clrMapOvr>
    <a:masterClrMapping/>
  </p:clrMapOvr>
  <p:transition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D540A63-9BB9-478A-BE65-7A901018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67FB1D5-16C4-4AAC-9E31-560F596F8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2555" y="1823626"/>
            <a:ext cx="4569572" cy="580029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269BEF2-E65B-4046-B8D1-1E5DC6D58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6595" y="2807310"/>
            <a:ext cx="5824073" cy="194014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200000"/>
              </a:lnSpc>
              <a:spcBef>
                <a:spcPts val="0"/>
              </a:spcBef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8" name="Footer Placeholder 15">
            <a:extLst>
              <a:ext uri="{FF2B5EF4-FFF2-40B4-BE49-F238E27FC236}">
                <a16:creationId xmlns:a16="http://schemas.microsoft.com/office/drawing/2014/main" id="{D89CE923-C669-4E0E-8161-BB328133E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9" name="Slide Number Placeholder 16">
            <a:extLst>
              <a:ext uri="{FF2B5EF4-FFF2-40B4-BE49-F238E27FC236}">
                <a16:creationId xmlns:a16="http://schemas.microsoft.com/office/drawing/2014/main" id="{C820EE41-4997-4CD3-B951-56ECA8842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" name="Date Placeholder 14">
            <a:extLst>
              <a:ext uri="{FF2B5EF4-FFF2-40B4-BE49-F238E27FC236}">
                <a16:creationId xmlns:a16="http://schemas.microsoft.com/office/drawing/2014/main" id="{A2A3BC0C-B522-4DA2-BBC0-AC180D8B2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319137910"/>
      </p:ext>
    </p:extLst>
  </p:cSld>
  <p:clrMapOvr>
    <a:masterClrMapping/>
  </p:clrMapOvr>
  <p:transition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F31BC2D-187A-4ED3-8D67-C55187E53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47F2F5-8E72-425B-A8C2-2B3262F730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5440" y="2741026"/>
            <a:ext cx="5002478" cy="2357066"/>
          </a:xfrm>
          <a:prstGeom prst="rect">
            <a:avLst/>
          </a:prstGeom>
        </p:spPr>
        <p:txBody>
          <a:bodyPr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50547272"/>
      </p:ext>
    </p:extLst>
  </p:cSld>
  <p:clrMapOvr>
    <a:masterClrMapping/>
  </p:clrMapOvr>
  <p:transition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490FC0B-50EB-42D6-A2A5-E02EE642E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04AFCE56-D794-4638-A3EC-63DCFB4B6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511" y="760406"/>
            <a:ext cx="5424988" cy="57924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18D6597-136D-4434-B628-D387BBEEC3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5511" y="3417877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691DF94-6587-4325-9C04-970034F1A8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511" y="3766050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3CE4E75-7868-44AD-9AF2-753E07BE78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4520" y="3400925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9FE9C2-0801-4D41-A54B-E00BC7AB7C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4520" y="3749098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632FBCC2-2CDB-448A-AA61-8D99495226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3529" y="3400925"/>
            <a:ext cx="269224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F6A4D9D-1690-4C0A-9F62-1FE93C0145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3529" y="3749098"/>
            <a:ext cx="269224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48863DDD-C3CC-439D-B738-34F6E8960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A4788388-29C8-4E9F-BF82-A1648088A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5E6E1CB5-0E5F-4B44-8044-4010565FC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385285123"/>
      </p:ext>
    </p:extLst>
  </p:cSld>
  <p:clrMapOvr>
    <a:masterClrMapping/>
  </p:clrMapOvr>
  <p:transition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pportunity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E96CB8F-A88F-40C3-A65B-8C33A16A0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086E70-8E77-436D-93CE-4BCD3EC94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80501"/>
            <a:ext cx="5097428" cy="991689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95B0D27-123C-4F09-AEDC-7874964B77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2337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F3772143-8573-4FED-977E-651FC59C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2336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FD80858-A8CA-496F-8CC0-5ACDBE6511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7933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B840B1F-9319-4653-84C5-FF1FDC5E9D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7931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882E4D8-D2AA-4EA0-BBCE-50334E8D16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3530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7EFBCD4-F812-493F-895A-3449020A06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83528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698D43C2-06AB-4549-BCD0-CBDCA065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B2AB1D3-DFF0-43A8-BDE0-52FB314E0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28A81ABF-135E-483F-9992-6F79C2F55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078761954"/>
      </p:ext>
    </p:extLst>
  </p:cSld>
  <p:clrMapOvr>
    <a:masterClrMapping/>
  </p:clrMapOvr>
  <p:transition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pportunit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133E6176-F4F6-41F9-8F2A-BA6586E16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AC667-531B-4E40-98C6-B36847DE0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77876"/>
            <a:ext cx="5097428" cy="918377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2930722-7AFE-41FC-8830-E2075CE783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35012" y="272404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D0E59A-1834-4F86-8ED3-1EBC643224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67209" y="2930881"/>
            <a:ext cx="3639904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084F479-66F8-4110-96A2-F3A27ED1C2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9" y="3282057"/>
            <a:ext cx="3639904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D083869-3E3D-40A3-AE1C-3384E7096A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35012" y="388211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ECD259C4-54A9-4BCA-A693-5A8F91D82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67209" y="4097257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3099E6DD-0A81-4AD6-97AD-DB777418E5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7209" y="4448433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01E19938-3E97-4D01-9075-1BB1AF8DDF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5012" y="5046627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FA19E736-C7E5-448A-AC90-0EB1D902C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58730" y="5267189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4C139082-0147-4871-8F86-8D4DFC57E8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58730" y="5618365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7BCF052-161B-4AD4-AE2D-DED3FA964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E388F47C-0B7F-4C1B-B356-52A1CB56D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4654010E-C1FB-4195-AD8B-03A8DAE01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608075937"/>
      </p:ext>
    </p:extLst>
  </p:cSld>
  <p:clrMapOvr>
    <a:masterClrMapping/>
  </p:clrMapOvr>
  <p:transition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84044BB2-E43C-47D4-AA71-04F22AA3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0F929B-B0E5-4A66-B6D7-462C68EF7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4082" y="2232234"/>
            <a:ext cx="7323836" cy="743753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4A0468C-03A1-433C-BEB5-89CD0787AB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69369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345DEAC-8D5A-44A0-9EA3-9A2039ADD0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69369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D2839B01-8B79-4655-BADE-8F0A935193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72448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D0AFF7FE-E069-4C57-9F9F-909B7FE43E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72448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27214261"/>
      </p:ext>
    </p:extLst>
  </p:cSld>
  <p:clrMapOvr>
    <a:masterClrMapping/>
  </p:clrMapOvr>
  <p:transition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172C710-E0AE-4BB2-88CC-99E77C188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4C9529-8AA8-4D29-9375-C57976886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107" y="501519"/>
            <a:ext cx="10515600" cy="49202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8E86424-D329-4314-90E5-3475B98D2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27206" y="1599947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64DB45FF-E618-4122-91A4-A6E4F2B7FC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23421" y="2378452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9D03616C-C870-402E-9CD2-D61A8C881C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586" y="2129182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1EFBBB7D-BA85-47E3-B62F-AA1F2F44FB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34399" y="3528829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56FCC53-780F-4831-91B6-1F8A24502C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1018" y="3528829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5A939BCA-4047-481F-B0C2-85F9AFDDFA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22436" y="4634331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EEACD572-F95D-4ABE-9CC6-03D3CAF89E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9913" y="445986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F21A51C9-DB80-45BF-8C5D-A023692728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37403" y="4321788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AAF01185-D17F-4327-A264-7BA944344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27206" y="5468790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0F026DA0-6868-4098-AA73-18F8CB2750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6546" y="519567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886378-0368-485F-8D6E-3C9CB4C63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47369" y="377484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8EB2C4E-9EF3-4CC7-9BDE-ED5598CCB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780689" y="209197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794545393"/>
      </p:ext>
    </p:extLst>
  </p:cSld>
  <p:clrMapOvr>
    <a:masterClrMapping/>
  </p:clrMapOvr>
  <p:transition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EDCC43F-6D79-4D9A-A842-74287B40D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8255D77-6260-4F8F-86E3-D0AAF36FA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4345" y="1158710"/>
            <a:ext cx="5611660" cy="677782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C91A828-665B-4FC2-950E-370DF47348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BE18AA7-27E7-4763-A428-079E43A450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33290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ED488B3-3B38-4DE8-8789-E9C406DB652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53332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717E8AA-E5DC-43D1-BED9-1A8F554EB6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97008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3A9D178-AD0E-4E87-97B3-88B79A533B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2028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F8B39EE-8EB7-4880-A9FE-9F98D2398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1306" y="4704558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74686F1-FD3B-4529-9DBC-C6E34312C5C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4982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A8B5FF2-6B96-4FE7-A6ED-0C89D74FA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B8BB57A8-7823-42A3-BA84-96690BFFD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902A41BF-FE61-48B9-A0B1-94AAB1538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858706782"/>
      </p:ext>
    </p:extLst>
  </p:cSld>
  <p:clrMapOvr>
    <a:masterClrMapping/>
  </p:clrMapOvr>
  <p:transition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c 35">
            <a:extLst>
              <a:ext uri="{FF2B5EF4-FFF2-40B4-BE49-F238E27FC236}">
                <a16:creationId xmlns:a16="http://schemas.microsoft.com/office/drawing/2014/main" id="{41C2529C-151F-488B-A358-D60A3D552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E2EB21-CF4E-4578-820A-EACF488B17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6975" y="1144939"/>
            <a:ext cx="5473874" cy="687833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F450FCB-3FE4-489F-A4BA-4BF492C226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B6054A1-FB6D-4599-BAA9-5A51A0FA8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3991" y="2822318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54896-ABA6-49DF-9D5D-B2E6224DD44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66775" y="3333750"/>
            <a:ext cx="4352925" cy="26368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EF233E3C-C99A-4345-9504-B06740BBAB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83159" y="3186346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406787F7-1112-4CC9-8FD0-D3583902DE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83159" y="3699738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99FA8680-9A76-4984-9EF3-619FF82EF7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83159" y="4213130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CB4D59B1-4953-4B1A-9812-770624E09F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83159" y="4726522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95F87D86-6041-4E3C-BB75-D69D0BE78A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83159" y="5239913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82" name="Text Placeholder 14">
            <a:extLst>
              <a:ext uri="{FF2B5EF4-FFF2-40B4-BE49-F238E27FC236}">
                <a16:creationId xmlns:a16="http://schemas.microsoft.com/office/drawing/2014/main" id="{634E901B-B6DE-434D-897D-F1CBD4C850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83158" y="5757105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E9FFDEA-766B-48BC-B5E5-F06563BF4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9875" y="2829932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1205833E-1296-4429-98BC-86ED5E75B7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56287" y="5930807"/>
            <a:ext cx="680833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4ADE2985-788D-4E06-BD6E-2DAB0780CC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3623" y="5930807"/>
            <a:ext cx="717943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FAA1F6E3-EB96-4B94-BB57-05FD3C6316A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18590" y="5929991"/>
            <a:ext cx="688462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59FA224-FF57-40F3-9DE2-A9E5663CA4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44388" y="5929991"/>
            <a:ext cx="680835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54D6B4E-0A06-4D7F-A784-E937A895E8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72728" y="5929991"/>
            <a:ext cx="717942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BAACD0B-92AC-4BB5-B2A1-E707BF046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593151" y="3356785"/>
            <a:ext cx="4296522" cy="2583500"/>
            <a:chOff x="6593151" y="3356785"/>
            <a:chExt cx="4296522" cy="2583500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621DF36-2E24-4250-8EA9-A4F7384057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3873977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19F31A0-FCE5-444A-9B67-BAD40A29F0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3356785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2EB8C64-26D1-49F5-BA35-75904015FB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5940285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ED0880-E9DE-43CA-BBF7-379FADCCAD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5417240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ECB90AC-2E9C-4DA6-9DE3-DC040D0710F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4908361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D64C7F2-BB5D-48DC-9D4E-C23102C15F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4393627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A55D8F5-8A01-4257-9CE6-A1B977F30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56287" y="5431011"/>
            <a:ext cx="680833" cy="501361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F2C8F2-9655-45C9-AEF1-0F524E904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86167" y="4913817"/>
            <a:ext cx="680834" cy="101855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58165E-0BB4-4621-BC5C-EB2DDE22E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16048" y="4396625"/>
            <a:ext cx="680835" cy="1534931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4798AF-A852-4991-B42B-A74C23574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44388" y="3879433"/>
            <a:ext cx="680835" cy="205212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CA52D7-A558-4733-BD5C-28751C99A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75270" y="3362241"/>
            <a:ext cx="680836" cy="256931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67B5EA1-9C03-415F-A792-0E81289DB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258AB827-653F-449B-8FE9-EC1E4F1C1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045230A5-30E4-4168-93C9-124C889B6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422514228"/>
      </p:ext>
    </p:extLst>
  </p:cSld>
  <p:clrMapOvr>
    <a:masterClrMapping/>
  </p:clrMapOvr>
  <p:transition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raphic 119">
            <a:extLst>
              <a:ext uri="{FF2B5EF4-FFF2-40B4-BE49-F238E27FC236}">
                <a16:creationId xmlns:a16="http://schemas.microsoft.com/office/drawing/2014/main" id="{0D59F18F-5BD3-4E80-A69E-6D92DA9BB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0" name="Group 99">
            <a:extLst>
              <a:ext uri="{FF2B5EF4-FFF2-40B4-BE49-F238E27FC236}">
                <a16:creationId xmlns:a16="http://schemas.microsoft.com/office/drawing/2014/main" id="{79CFC79B-A403-4086-AB1A-E4F1F5AC3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2689356"/>
            <a:ext cx="8510121" cy="0"/>
            <a:chOff x="1504814" y="2488864"/>
            <a:chExt cx="8510121" cy="0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993C126-30E8-42C9-97ED-B7968CE61D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10C08B4-5A67-4383-9733-CF6DCA952D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736A6D3-72B8-4ADD-83D7-F905F1EB82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C048AE4-D798-4F1B-874C-F9044ECC86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24A7533-05E8-464C-81E3-83136E632A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14E820A-336F-43A8-AB0D-875A28FB90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D557188-FB50-4CF1-85AD-28747D97DC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AF23435-A9FF-4958-AAD2-BC57F32090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B538E04-AA2E-459F-8D6B-7272BF9117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79A5921-876C-47AA-BF02-FADD423D79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B30A0A8-B885-4ACC-A172-7A4408F0C0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B7C7B2-16AE-4434-A8AD-0977BCB945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698" y="512299"/>
            <a:ext cx="10515600" cy="72738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1" name="Text Placeholder 14">
            <a:extLst>
              <a:ext uri="{FF2B5EF4-FFF2-40B4-BE49-F238E27FC236}">
                <a16:creationId xmlns:a16="http://schemas.microsoft.com/office/drawing/2014/main" id="{53B0593C-E961-4FCF-8FFD-E10C0FD17B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9242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2" name="Text Placeholder 14">
            <a:extLst>
              <a:ext uri="{FF2B5EF4-FFF2-40B4-BE49-F238E27FC236}">
                <a16:creationId xmlns:a16="http://schemas.microsoft.com/office/drawing/2014/main" id="{82A98F85-0B8A-4F76-813C-C9E7A0AD88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0668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3" name="Text Placeholder 14">
            <a:extLst>
              <a:ext uri="{FF2B5EF4-FFF2-40B4-BE49-F238E27FC236}">
                <a16:creationId xmlns:a16="http://schemas.microsoft.com/office/drawing/2014/main" id="{0E645547-1191-4919-804B-D1DC905F36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0774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3" name="Text Placeholder 14">
            <a:extLst>
              <a:ext uri="{FF2B5EF4-FFF2-40B4-BE49-F238E27FC236}">
                <a16:creationId xmlns:a16="http://schemas.microsoft.com/office/drawing/2014/main" id="{70437561-3145-4AA5-B5BF-FC2748828C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322" y="2436036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year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5924F20-2A98-40F8-8A1C-BF4BCDC2E9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540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DFA884F6-1E9E-4CB8-B4C3-3699E85DC2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481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7C52539B-C569-4941-87E7-C3EFCFA1B4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423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9B18D372-BEFC-4475-B0A5-A798E6CFD6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4364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19FE16DC-63F2-4A3D-A743-C8480AE39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306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23422F26-58EB-43A7-A33C-2ADBC2320C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2247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D9B50A50-093B-4DCA-929F-AF8AB169A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189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A60753DF-99A3-4BAF-AA47-4AD0BEAEAE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0130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470DC77E-070B-46BC-B95C-A323D9EEC9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072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E7D1C36D-258C-4B31-95BB-6C0127AEEA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8013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214A7064-793B-4F30-9A33-42069EF604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6955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5868F5A5-3ED0-4C78-A557-F4B94B123D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58963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4" name="Text Placeholder 14">
            <a:extLst>
              <a:ext uri="{FF2B5EF4-FFF2-40B4-BE49-F238E27FC236}">
                <a16:creationId xmlns:a16="http://schemas.microsoft.com/office/drawing/2014/main" id="{A727AB6E-B8DB-4DE5-BF92-3EDCA58B0C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9242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5" name="Text Placeholder 14">
            <a:extLst>
              <a:ext uri="{FF2B5EF4-FFF2-40B4-BE49-F238E27FC236}">
                <a16:creationId xmlns:a16="http://schemas.microsoft.com/office/drawing/2014/main" id="{9E6A60C5-3054-4500-AE04-5766330FED6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39498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6" name="Text Placeholder 14">
            <a:extLst>
              <a:ext uri="{FF2B5EF4-FFF2-40B4-BE49-F238E27FC236}">
                <a16:creationId xmlns:a16="http://schemas.microsoft.com/office/drawing/2014/main" id="{3984C0A5-C9AE-4249-8578-A0909B41B45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88657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4" name="Text Placeholder 14">
            <a:extLst>
              <a:ext uri="{FF2B5EF4-FFF2-40B4-BE49-F238E27FC236}">
                <a16:creationId xmlns:a16="http://schemas.microsoft.com/office/drawing/2014/main" id="{4C9A8467-48EB-4C64-8A54-0526649B91A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322" y="4134112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year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11C267AB-B4C6-4059-B2A8-DCF715B29E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540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3BF85ABF-DD16-49D4-9DD2-C35A92EAFE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6481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8" name="Text Placeholder 14">
            <a:extLst>
              <a:ext uri="{FF2B5EF4-FFF2-40B4-BE49-F238E27FC236}">
                <a16:creationId xmlns:a16="http://schemas.microsoft.com/office/drawing/2014/main" id="{997C6187-BB2F-413C-AC7B-BBAA249AFD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423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9" name="Text Placeholder 14">
            <a:extLst>
              <a:ext uri="{FF2B5EF4-FFF2-40B4-BE49-F238E27FC236}">
                <a16:creationId xmlns:a16="http://schemas.microsoft.com/office/drawing/2014/main" id="{96C1DC7A-93B1-4894-AD2D-AC636AC3DA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364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0" name="Text Placeholder 14">
            <a:extLst>
              <a:ext uri="{FF2B5EF4-FFF2-40B4-BE49-F238E27FC236}">
                <a16:creationId xmlns:a16="http://schemas.microsoft.com/office/drawing/2014/main" id="{872C35DC-A640-4C27-A87F-380E7440F3F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3306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Text Placeholder 14">
            <a:extLst>
              <a:ext uri="{FF2B5EF4-FFF2-40B4-BE49-F238E27FC236}">
                <a16:creationId xmlns:a16="http://schemas.microsoft.com/office/drawing/2014/main" id="{02969206-EA35-4C29-B0EB-3FF5636A8A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2247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2" name="Text Placeholder 14">
            <a:extLst>
              <a:ext uri="{FF2B5EF4-FFF2-40B4-BE49-F238E27FC236}">
                <a16:creationId xmlns:a16="http://schemas.microsoft.com/office/drawing/2014/main" id="{79B642F3-327B-4AF1-85D8-5BE8BA286A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1189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0D45BD78-6B19-4D6A-A164-2017ABC7836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0130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494676D6-C880-49A1-B83E-2D632934D66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9072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0C07048D-5DEB-4348-8A16-DB77BE4909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8013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DCED3D6A-EF8C-4F42-B23B-30ED2C33EA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6955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E966B469-8508-4732-8A0A-58429BD0E7B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58963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7A40874-7B89-4A5D-9562-21D6994C3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4391183"/>
            <a:ext cx="8510121" cy="0"/>
            <a:chOff x="1504814" y="2488864"/>
            <a:chExt cx="8510121" cy="0"/>
          </a:xfrm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2860379-5BA3-4D4F-BAC0-C7783F7552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F221EBE-F43A-48CE-8E3D-D0777E2424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C70DFAA8-4E1B-45F7-B640-2C00AAC6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67A42DA-2625-4CA8-AEC6-2FBCF01A92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9B3F7FF-9011-4E3D-9DA2-C144F9B7A5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EEA406-B4BE-4A22-9879-A86700556B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5F5190B-A9FA-4925-81A3-8AF19F7093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3F58E8B-B6D9-46C2-95B1-755AD7B028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6BED819-4195-456A-8507-0CC09BDCFE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3541D3E-8275-4522-81E7-C83B829D83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CD34DF1-D500-4560-A303-92050A8112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47D7FFC8-D319-4F8D-9F95-39BB21C0E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8DDD48EC-9DE8-4C43-881A-2597A1DDE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650B4D37-2FE8-4F27-8951-CF9D947DB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691548132"/>
      </p:ext>
    </p:extLst>
  </p:cSld>
  <p:clrMapOvr>
    <a:masterClrMapping/>
  </p:clrMapOvr>
  <p:transition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0ADA1982-C216-4747-ACCC-39BC3F5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CD2AA7-E8A5-43C8-A284-AB4951189D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949" y="527542"/>
            <a:ext cx="6922876" cy="687834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681FF-F6BE-41D5-AE6C-B4110384B0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3738" y="1128713"/>
            <a:ext cx="7654925" cy="50688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A60E8AF0-85D7-4035-8301-57B3B4977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481785BD-DC42-4BBE-8C62-BCE6F0EA4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E7886D57-8CCD-43A4-AA49-E96D2EE3E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036791039"/>
      </p:ext>
    </p:extLst>
  </p:cSld>
  <p:clrMapOvr>
    <a:masterClrMapping/>
  </p:clrMapOvr>
  <p:transition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4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F8B9974-85ED-46AA-8617-AC54C84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F28C4-DD1C-4E63-87E8-D76D85414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858" y="2377440"/>
            <a:ext cx="1939480" cy="2115505"/>
          </a:xfrm>
          <a:prstGeom prst="rect">
            <a:avLst/>
          </a:prstGeom>
        </p:spPr>
        <p:txBody>
          <a:bodyPr anchor="ctr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987B23C-61B9-4A48-AD36-5E284812C4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88220" y="2599422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CBD4661-3D71-432B-9308-D2D085BDDDC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90425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F89712B5-4C74-4247-B444-43F116D582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91629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33EE5A9D-21AC-4735-98D7-42551FA2C58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87443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DBA775-4308-4BDB-B966-8167F3D04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75041" y="2486242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DDB0B0-BDCD-459F-AF20-19E1A721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7246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9A8E9D1-9673-42D1-A573-05CDC9EF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78450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2F851C1-89A7-44A6-8617-10C435FCD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4264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1C9BE46-D000-4DE5-8AD9-6BFAD927A0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773EC03-0830-4EAE-A7B0-38902833DC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2E4889E-0745-4713-90D8-432A681AFC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FD869E7-29DA-4FEB-AB84-1C1FC3ABAE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9E68119B-CDCA-4341-8772-2C5BF80B4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4435751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303A31BF-223A-44A5-84FD-7281FF2E4C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66E1F4A-0D75-4B8E-A181-DBEB50FB1D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EAE80D5-B799-4807-8F81-22C4218233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9" name="Footer Placeholder 15">
            <a:extLst>
              <a:ext uri="{FF2B5EF4-FFF2-40B4-BE49-F238E27FC236}">
                <a16:creationId xmlns:a16="http://schemas.microsoft.com/office/drawing/2014/main" id="{6F4437FE-F08F-4311-B53A-88E2B729B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0" name="Slide Number Placeholder 16">
            <a:extLst>
              <a:ext uri="{FF2B5EF4-FFF2-40B4-BE49-F238E27FC236}">
                <a16:creationId xmlns:a16="http://schemas.microsoft.com/office/drawing/2014/main" id="{D0901035-50AC-4DE0-9A34-AAA61EC10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1" name="Date Placeholder 14">
            <a:extLst>
              <a:ext uri="{FF2B5EF4-FFF2-40B4-BE49-F238E27FC236}">
                <a16:creationId xmlns:a16="http://schemas.microsoft.com/office/drawing/2014/main" id="{5FDD3145-ADE2-4744-AF2E-9C8074C85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4191445060"/>
      </p:ext>
    </p:extLst>
  </p:cSld>
  <p:clrMapOvr>
    <a:masterClrMapping/>
  </p:clrMapOvr>
  <p:transition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A79A51B-CC7A-4B36-B457-AF323638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019BE9-6149-434A-B185-EE7434112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216" y="2375820"/>
            <a:ext cx="1939480" cy="2112264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ts val="1000"/>
              </a:spcBef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18B0121B-CD0E-495B-9B36-4E88EA4A97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36339" y="1326925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81" name="Picture Placeholder 9">
            <a:extLst>
              <a:ext uri="{FF2B5EF4-FFF2-40B4-BE49-F238E27FC236}">
                <a16:creationId xmlns:a16="http://schemas.microsoft.com/office/drawing/2014/main" id="{4508E76D-2071-4546-8DF2-405B38E2E27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209991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D319C8D5-E3A6-45C8-8A64-1C1B70C90D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7305041" y="133575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87" name="Picture Placeholder 9">
            <a:extLst>
              <a:ext uri="{FF2B5EF4-FFF2-40B4-BE49-F238E27FC236}">
                <a16:creationId xmlns:a16="http://schemas.microsoft.com/office/drawing/2014/main" id="{01486F31-E79E-4E60-8749-B8036B3F09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384248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139AA92-1781-41FF-9168-9F70B1CD9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6" y="1222122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5FE36F90-735E-43D7-854A-0347B80505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D0125FE-7543-4B0C-8C50-D4F2949EE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839FFFF4-4A0D-40BD-B34D-CD03D03FBE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2697A53A-8491-4753-901E-02236DC0D5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A51D26D1-89AE-43E7-8F1B-E28B18019F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2972538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0191059F-A4F0-4F1C-8237-308B7AD3F9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CFCD3D62-2515-40AC-A8A1-F7786244B3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96332DF1-A140-4DDE-9D59-EEF6D503A8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97" name="Picture Placeholder 9">
            <a:extLst>
              <a:ext uri="{FF2B5EF4-FFF2-40B4-BE49-F238E27FC236}">
                <a16:creationId xmlns:a16="http://schemas.microsoft.com/office/drawing/2014/main" id="{74EEDA10-EB71-4CAE-80C3-9C8B46E6DF0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136338" y="3967833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99" name="Picture Placeholder 9">
            <a:extLst>
              <a:ext uri="{FF2B5EF4-FFF2-40B4-BE49-F238E27FC236}">
                <a16:creationId xmlns:a16="http://schemas.microsoft.com/office/drawing/2014/main" id="{B9B031BF-4314-4A3C-B53C-3958CC4E622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209990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101" name="Picture Placeholder 9">
            <a:extLst>
              <a:ext uri="{FF2B5EF4-FFF2-40B4-BE49-F238E27FC236}">
                <a16:creationId xmlns:a16="http://schemas.microsoft.com/office/drawing/2014/main" id="{BC693B9A-3B30-4605-8EB8-2F155D0A4D7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305040" y="397666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103" name="Picture Placeholder 9">
            <a:extLst>
              <a:ext uri="{FF2B5EF4-FFF2-40B4-BE49-F238E27FC236}">
                <a16:creationId xmlns:a16="http://schemas.microsoft.com/office/drawing/2014/main" id="{B4CC215D-FD31-4423-900D-14FF4F457AF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384247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D4954E76-6CE5-4657-B73B-9875EBBEE0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96727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E361B92F-F111-450A-A880-C345037923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96865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375C0FEC-10E7-43EA-953F-8CB9B43D05D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98932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84B1D0A0-DE01-44D1-9B3D-C05DBE9FF75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99070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DB6914BB-9516-4473-A02F-1A325FA7EF4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00136" y="5587475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FEE30418-F1D4-4D16-A984-FAA6CA0C74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00274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6D336D9D-1BA1-44AE-96D0-3ABDA2E02F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5950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80" name="Text Placeholder 14">
            <a:extLst>
              <a:ext uri="{FF2B5EF4-FFF2-40B4-BE49-F238E27FC236}">
                <a16:creationId xmlns:a16="http://schemas.microsoft.com/office/drawing/2014/main" id="{6CFC9B87-2AEB-414D-90C4-B7F8F4AA908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92018" y="5813275"/>
            <a:ext cx="1885515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DC42105-8FBF-4317-8822-399B1F791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8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4C80F9-E615-4699-A719-131E62011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8" y="123094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91882A0-07C5-40D6-9520-02882775B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5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42E90BB-F1EA-466F-939C-623189DF3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5" y="3863030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BBFD36F-B307-4513-ABAD-4A02FF737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7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E69D0B1-6D57-4A70-9C3C-F3A072AAA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7" y="387185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5C6593C-7D72-47FB-AACE-F8848EAFA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4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ooter Placeholder 15">
            <a:extLst>
              <a:ext uri="{FF2B5EF4-FFF2-40B4-BE49-F238E27FC236}">
                <a16:creationId xmlns:a16="http://schemas.microsoft.com/office/drawing/2014/main" id="{75E80FB1-82CC-4144-A899-130449B1A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6" name="Slide Number Placeholder 16">
            <a:extLst>
              <a:ext uri="{FF2B5EF4-FFF2-40B4-BE49-F238E27FC236}">
                <a16:creationId xmlns:a16="http://schemas.microsoft.com/office/drawing/2014/main" id="{10233900-5A86-4114-B6F5-3A0EA053C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7" name="Date Placeholder 14">
            <a:extLst>
              <a:ext uri="{FF2B5EF4-FFF2-40B4-BE49-F238E27FC236}">
                <a16:creationId xmlns:a16="http://schemas.microsoft.com/office/drawing/2014/main" id="{FD1BC0B7-CAA7-4673-9A20-4EFEDC54F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802333391"/>
      </p:ext>
    </p:extLst>
  </p:cSld>
  <p:clrMapOvr>
    <a:masterClrMapping/>
  </p:clrMapOvr>
  <p:transition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phic 49">
            <a:extLst>
              <a:ext uri="{FF2B5EF4-FFF2-40B4-BE49-F238E27FC236}">
                <a16:creationId xmlns:a16="http://schemas.microsoft.com/office/drawing/2014/main" id="{17DE9787-F8D7-4BBC-B3C0-144EEF473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7F666A-7AF7-4FC6-99DD-E06ED83C2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1507" y="412356"/>
            <a:ext cx="5561556" cy="56767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F2A51B67-A536-47ED-9C35-D2A4CF043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0273" y="2216292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22B9C39F-D011-4AC3-A4D5-F61A1CB365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13801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4ACDF114-02BD-4A37-9BE7-AA8094B7CD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7329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3852728-C736-414F-BEC0-31AB3A704D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80856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6B731840-A0DA-423D-9AD1-D542C17BA9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026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E47A2D3-1E75-488B-A7B8-CB951C8CF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026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2D6ADA9B-155A-4D54-8FCB-993ADEDA7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8554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EF3CF6C8-7D4D-4E50-B616-0431BD4830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8554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1CDF49FC-54E3-44AE-A97C-193A25AD6C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2082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42DE5D9-5D04-4F7F-9F34-704818185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2082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5F0B8140-B940-4531-9562-8D79015D94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95609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849CC034-065E-48F0-985D-B80C152002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95609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8035ED58-36EB-4147-BCAF-919ADD4DD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7D46932B-0FD6-4226-B251-4B8154612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56763F7F-D8C0-4AC6-96D0-C445984C5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738281532"/>
      </p:ext>
    </p:extLst>
  </p:cSld>
  <p:clrMapOvr>
    <a:masterClrMapping/>
  </p:clrMapOvr>
  <p:transition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3BA4599-9856-44E7-A2B6-2354614AF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7B14DA-64F0-4FA7-9A51-F4DB18154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9441" y="1259911"/>
            <a:ext cx="5124189" cy="492302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C4C8188-3DF6-4730-A43A-B789F03449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9441" y="1752212"/>
            <a:ext cx="4856479" cy="24133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E06D1BDE-6908-49BA-9900-53DFFF4B1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1C3470F5-DE33-49A4-AE82-D8EA10A4F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63DCFC99-67D1-468A-8498-B3C1C90B4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834407786"/>
      </p:ext>
    </p:extLst>
  </p:cSld>
  <p:clrMapOvr>
    <a:masterClrMapping/>
  </p:clrMapOvr>
  <p:transition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E551AED-617A-4A51-AA8F-586F3703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0DB23A-E569-444D-8607-FD404EEC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6850" y="563671"/>
            <a:ext cx="4989629" cy="2387771"/>
          </a:xfrm>
          <a:prstGeom prst="rect">
            <a:avLst/>
          </a:prstGeom>
        </p:spPr>
        <p:txBody>
          <a:bodyPr anchor="b"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2B0D3D1-FC7B-43D5-B514-082D63A90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6852" y="3531676"/>
            <a:ext cx="4989628" cy="17565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CC2E4653-FDDE-4AC5-A23D-4269479A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C3F5CE00-2FB1-4930-8D2C-DB4DFDB2F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2CEBC169-C2E2-4153-8A08-6B982C0D5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798880244"/>
      </p:ext>
    </p:extLst>
  </p:cSld>
  <p:clrMapOvr>
    <a:masterClrMapping/>
  </p:clrMapOvr>
  <p:transition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710F293A-37AC-4A72-A56D-2A65F8EA2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EE0BB053-ED5B-47E1-ABB2-815094654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90B7F12-A295-4495-AE4A-7640863C8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32235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transition>
    <p:push dir="u"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1C44412-AA84-403C-A202-EAB7F3C8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674" y="1327759"/>
            <a:ext cx="4989628" cy="1929505"/>
          </a:xfrm>
        </p:spPr>
        <p:txBody>
          <a:bodyPr lIns="91440" tIns="45720" rIns="91440" bIns="45720" anchor="b"/>
          <a:lstStyle/>
          <a:p>
            <a:r>
              <a:rPr lang="en-US"/>
              <a:t>Travel Mate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D1462E-973D-4427-A664-EF751DF597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3606" y="3257264"/>
            <a:ext cx="5256060" cy="816022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/>
              <a:t>Francesco Boldrini, Ettore Ricci, Paolo Palumbo</a:t>
            </a:r>
          </a:p>
        </p:txBody>
      </p:sp>
    </p:spTree>
    <p:extLst>
      <p:ext uri="{BB962C8B-B14F-4D97-AF65-F5344CB8AC3E}">
        <p14:creationId xmlns:p14="http://schemas.microsoft.com/office/powerpoint/2010/main" val="4041433082"/>
      </p:ext>
    </p:extLst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AC2324A2-9A57-4433-8C66-C17D1D27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623" y="2210810"/>
            <a:ext cx="4579970" cy="538038"/>
          </a:xfrm>
        </p:spPr>
        <p:txBody>
          <a:bodyPr lIns="91440" tIns="45720" rIns="91440" bIns="45720" anchor="t"/>
          <a:lstStyle/>
          <a:p>
            <a:r>
              <a:rPr lang="en-US"/>
              <a:t>In a nutshell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FDAF9C5E-FFD5-49FC-9788-18CE8F0958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5953" y="2747550"/>
            <a:ext cx="5762761" cy="2950416"/>
          </a:xfrm>
        </p:spPr>
        <p:txBody>
          <a:bodyPr lIns="91440" tIns="45720" rIns="91440" bIns="45720" anchor="t"/>
          <a:lstStyle/>
          <a:p>
            <a:r>
              <a:rPr lang="en-US"/>
              <a:t>Quickly search for nearby restaurants, hotels or attractions, all in one click – from car or from smartphone.</a:t>
            </a:r>
          </a:p>
          <a:p>
            <a:endParaRPr lang="en-US"/>
          </a:p>
          <a:p>
            <a:r>
              <a:rPr lang="en-US"/>
              <a:t>Simply listen to the AI overview and snap right where you want!</a:t>
            </a:r>
          </a:p>
          <a:p>
            <a:endParaRPr lang="en-US"/>
          </a:p>
          <a:p>
            <a:r>
              <a:rPr lang="en-US"/>
              <a:t>Exploit a powerful opportunity to get actual revenue in if you're a restaurant or a hotel owner!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2981E3D-54C8-4A85-9DAB-CE41C50EA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Travel Mate </a:t>
            </a: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22A69A8-1CA3-486A-A675-DB22FF0D4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16" name="Picture Placeholder 115" descr="A map of a city&#10;&#10;AI-generated content may be incorrect.">
            <a:extLst>
              <a:ext uri="{FF2B5EF4-FFF2-40B4-BE49-F238E27FC236}">
                <a16:creationId xmlns:a16="http://schemas.microsoft.com/office/drawing/2014/main" id="{2F0ECB9B-426D-40BC-918A-2C82968A05C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/>
          <a:stretch/>
        </p:blipFill>
        <p:spPr>
          <a:xfrm>
            <a:off x="7595306" y="1350272"/>
            <a:ext cx="3636573" cy="3624684"/>
          </a:xfrm>
        </p:spPr>
      </p:pic>
    </p:spTree>
    <p:extLst>
      <p:ext uri="{BB962C8B-B14F-4D97-AF65-F5344CB8AC3E}">
        <p14:creationId xmlns:p14="http://schemas.microsoft.com/office/powerpoint/2010/main" val="2184235863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4BB0BCF4-9D20-4758-AE5E-FC431503F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11" y="760406"/>
            <a:ext cx="5424988" cy="579245"/>
          </a:xfrm>
        </p:spPr>
        <p:txBody>
          <a:bodyPr/>
          <a:lstStyle/>
          <a:p>
            <a:r>
              <a:rPr lang="en-US"/>
              <a:t>Business Model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F09B50DC-B299-47D5-8FBF-8BB1F764A5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65511" y="3417877"/>
            <a:ext cx="2806280" cy="365125"/>
          </a:xfrm>
        </p:spPr>
        <p:txBody>
          <a:bodyPr lIns="91440" tIns="45720" rIns="91440" bIns="45720" anchor="t"/>
          <a:lstStyle/>
          <a:p>
            <a:r>
              <a:rPr lang="en-ZA"/>
              <a:t>Ad-supported Model</a:t>
            </a:r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B2431E2-5AF0-49F8-8C0F-52F1C11718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5511" y="3766050"/>
            <a:ext cx="2806280" cy="1148945"/>
          </a:xfrm>
        </p:spPr>
        <p:txBody>
          <a:bodyPr lIns="91440" tIns="45720" rIns="91440" bIns="45720" anchor="t"/>
          <a:lstStyle/>
          <a:p>
            <a:r>
              <a:rPr lang="en-ZA"/>
              <a:t>Completely free application, Ads initially sustain costs – users can pay to remove them</a:t>
            </a:r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974545B8-60BB-4D0D-8EE6-4D20EFAB71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14520" y="3400925"/>
            <a:ext cx="2806280" cy="365125"/>
          </a:xfrm>
        </p:spPr>
        <p:txBody>
          <a:bodyPr lIns="91440" tIns="45720" rIns="91440" bIns="45720" anchor="t"/>
          <a:lstStyle/>
          <a:p>
            <a:r>
              <a:rPr lang="en-ZA"/>
              <a:t>Pay-per-click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947754CF-0306-43C0-AAC6-F0E44B385D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14520" y="3749098"/>
            <a:ext cx="2806280" cy="1148945"/>
          </a:xfrm>
        </p:spPr>
        <p:txBody>
          <a:bodyPr lIns="91440" tIns="45720" rIns="91440" bIns="45720" anchor="t"/>
          <a:lstStyle/>
          <a:p>
            <a:r>
              <a:rPr lang="en-ZA"/>
              <a:t>Partners pay for sponsored spots: each click brings them a customer and us revenue</a:t>
            </a:r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08BF14CB-16F9-4C81-89C6-D1803D9FF6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3529" y="3400925"/>
            <a:ext cx="2692240" cy="365125"/>
          </a:xfrm>
        </p:spPr>
        <p:txBody>
          <a:bodyPr lIns="91440" tIns="45720" rIns="91440" bIns="45720" anchor="t"/>
          <a:lstStyle/>
          <a:p>
            <a:r>
              <a:rPr lang="en-ZA"/>
              <a:t>Low AI costs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BF20205F-2E3B-455D-AD51-19DBA042B6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63529" y="3749098"/>
            <a:ext cx="2692240" cy="1148945"/>
          </a:xfrm>
        </p:spPr>
        <p:txBody>
          <a:bodyPr lIns="91440" tIns="45720" rIns="91440" bIns="45720" anchor="t"/>
          <a:lstStyle/>
          <a:p>
            <a:r>
              <a:rPr lang="en-ZA"/>
              <a:t>Low costs for our AI, but decreasing as devices support running the model locally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E4B4A-B5D3-478E-8BA4-CF2034B52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569EA-9732-4A17-BF57-C64DBC5B9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2E4A9E0-B9B8-477E-BAB2-C435AE05A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668225" y="2771218"/>
            <a:ext cx="65900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4D367819-9C54-4A3B-90AC-2B4EEEBCC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5812" y="2298379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Users outline">
            <a:extLst>
              <a:ext uri="{FF2B5EF4-FFF2-40B4-BE49-F238E27FC236}">
                <a16:creationId xmlns:a16="http://schemas.microsoft.com/office/drawing/2014/main" id="{5EB2FC54-BDCC-433E-9F5F-4479FEC4C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9077" y="2471644"/>
            <a:ext cx="599148" cy="599148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FF42323A-F1D2-482E-AE8B-36FC42FCE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4821" y="2298379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 descr="Waiter male outline">
            <a:extLst>
              <a:ext uri="{FF2B5EF4-FFF2-40B4-BE49-F238E27FC236}">
                <a16:creationId xmlns:a16="http://schemas.microsoft.com/office/drawing/2014/main" id="{4F06236B-DDE6-47A9-8020-9F1D55DB8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8086" y="2471644"/>
            <a:ext cx="599148" cy="599148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CD56C48C-948A-41FB-A293-F6907B59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810" y="2298379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 descr="Processor outline">
            <a:extLst>
              <a:ext uri="{FF2B5EF4-FFF2-40B4-BE49-F238E27FC236}">
                <a16:creationId xmlns:a16="http://schemas.microsoft.com/office/drawing/2014/main" id="{9228EBB1-292A-4381-80B0-8545A1B57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10075" y="2471644"/>
            <a:ext cx="599148" cy="59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226737"/>
      </p:ext>
    </p:extLst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0E6E7-FE9E-4C88-8036-BAF0835CC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4EF00-08F5-4EC2-87BC-9CA90D825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65DFA199-F01C-5881-CA75-31A07C9FB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ea typeface="+mj-lt"/>
                <a:cs typeface="+mj-lt"/>
              </a:rPr>
              <a:t>The competition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0E332728-FD4E-E590-6F6E-F9FEC8774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838427"/>
              </p:ext>
            </p:extLst>
          </p:nvPr>
        </p:nvGraphicFramePr>
        <p:xfrm>
          <a:off x="3210034" y="1589689"/>
          <a:ext cx="7877171" cy="3151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376">
                  <a:extLst>
                    <a:ext uri="{9D8B030D-6E8A-4147-A177-3AD203B41FA5}">
                      <a16:colId xmlns:a16="http://schemas.microsoft.com/office/drawing/2014/main" val="2782204386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138623405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4171542249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1386938573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946370939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615306912"/>
                    </a:ext>
                  </a:extLst>
                </a:gridCol>
              </a:tblGrid>
              <a:tr h="39315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Travel Mate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Google Maps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000"/>
                        <a:t>Apple Maps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Booking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000"/>
                        <a:t>TripAdvisor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Waze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/>
                        <a:t>Tesla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96225"/>
                  </a:ext>
                </a:extLst>
              </a:tr>
              <a:tr h="393158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In-car suggestions</a:t>
                      </a: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472269"/>
                  </a:ext>
                </a:extLst>
              </a:tr>
              <a:tr h="393158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AI overview</a:t>
                      </a: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035476"/>
                  </a:ext>
                </a:extLst>
              </a:tr>
              <a:tr h="393158">
                <a:tc>
                  <a:txBody>
                    <a:bodyPr/>
                    <a:lstStyle/>
                    <a:p>
                      <a:pPr marL="0" lvl="0" algn="ctr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Does not interrupt existing navigation</a:t>
                      </a: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266965"/>
                  </a:ext>
                </a:extLst>
              </a:tr>
              <a:tr h="393158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Voice explanations</a:t>
                      </a: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132"/>
                  </a:ext>
                </a:extLst>
              </a:tr>
              <a:tr h="393158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One-click fetch</a:t>
                      </a: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589808"/>
                  </a:ext>
                </a:extLst>
              </a:tr>
              <a:tr h="393158"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Standalone App</a:t>
                      </a: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69696">
                        <a:alpha val="3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533897"/>
                  </a:ext>
                </a:extLst>
              </a:tr>
              <a:tr h="393158"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Has car version</a:t>
                      </a: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lang="en-US" sz="10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D9D9">
                        <a:alpha val="3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53182"/>
                  </a:ext>
                </a:extLst>
              </a:tr>
            </a:tbl>
          </a:graphicData>
        </a:graphic>
      </p:graphicFrame>
      <p:pic>
        <p:nvPicPr>
          <p:cNvPr id="2" name="Graphic 1" descr="Close with solid fill">
            <a:extLst>
              <a:ext uri="{FF2B5EF4-FFF2-40B4-BE49-F238E27FC236}">
                <a16:creationId xmlns:a16="http://schemas.microsoft.com/office/drawing/2014/main" id="{0DDA3014-177B-5AB1-C847-30775C427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5248" y="2437524"/>
            <a:ext cx="266264" cy="279401"/>
          </a:xfrm>
          <a:prstGeom prst="rect">
            <a:avLst/>
          </a:prstGeom>
        </p:spPr>
      </p:pic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3C5392BF-82B3-7D3D-51CD-03291290DC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7331" y="2440261"/>
            <a:ext cx="261884" cy="270642"/>
          </a:xfrm>
          <a:prstGeom prst="rect">
            <a:avLst/>
          </a:prstGeom>
        </p:spPr>
      </p:pic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CFB14893-9521-7FE1-298E-F41C06D73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5834" y="2441903"/>
            <a:ext cx="266264" cy="279401"/>
          </a:xfrm>
          <a:prstGeom prst="rect">
            <a:avLst/>
          </a:prstGeom>
        </p:spPr>
      </p:pic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BC4F49DB-159A-2A82-1E8E-ED6D9FF8E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1653" y="2822118"/>
            <a:ext cx="266264" cy="279401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57A80962-8A3F-B15F-ADE9-910A073611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7331" y="2832044"/>
            <a:ext cx="261884" cy="270642"/>
          </a:xfrm>
          <a:prstGeom prst="rect">
            <a:avLst/>
          </a:prstGeom>
        </p:spPr>
      </p:pic>
      <p:pic>
        <p:nvPicPr>
          <p:cNvPr id="11" name="Graphic 10" descr="Close with solid fill">
            <a:extLst>
              <a:ext uri="{FF2B5EF4-FFF2-40B4-BE49-F238E27FC236}">
                <a16:creationId xmlns:a16="http://schemas.microsoft.com/office/drawing/2014/main" id="{936062E4-538A-0D92-7580-1656F4CE1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5903" y="2825712"/>
            <a:ext cx="266264" cy="279401"/>
          </a:xfrm>
          <a:prstGeom prst="rect">
            <a:avLst/>
          </a:prstGeom>
        </p:spPr>
      </p:pic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1E110E7B-12B6-AD63-E06A-2B5DD1F06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5834" y="2833686"/>
            <a:ext cx="266264" cy="279401"/>
          </a:xfrm>
          <a:prstGeom prst="rect">
            <a:avLst/>
          </a:prstGeom>
        </p:spPr>
      </p:pic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AD4E0609-49DB-016B-76B2-FEF8929C1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1654" y="3213901"/>
            <a:ext cx="266264" cy="279401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8E4BB76D-5AA4-CDD4-5CAF-7C67AE9993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3737" y="3216638"/>
            <a:ext cx="261884" cy="270642"/>
          </a:xfrm>
          <a:prstGeom prst="rect">
            <a:avLst/>
          </a:prstGeom>
        </p:spPr>
      </p:pic>
      <p:pic>
        <p:nvPicPr>
          <p:cNvPr id="16" name="Graphic 15" descr="Close with solid fill">
            <a:extLst>
              <a:ext uri="{FF2B5EF4-FFF2-40B4-BE49-F238E27FC236}">
                <a16:creationId xmlns:a16="http://schemas.microsoft.com/office/drawing/2014/main" id="{ED53F046-731E-6B9F-5743-E303E3F8D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309" y="3213901"/>
            <a:ext cx="266264" cy="279401"/>
          </a:xfrm>
          <a:prstGeom prst="rect">
            <a:avLst/>
          </a:prstGeom>
        </p:spPr>
      </p:pic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E99202D5-2856-3D08-B890-48E474DD6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2240" y="3218280"/>
            <a:ext cx="266264" cy="279401"/>
          </a:xfrm>
          <a:prstGeom prst="rect">
            <a:avLst/>
          </a:prstGeom>
        </p:spPr>
      </p:pic>
      <p:pic>
        <p:nvPicPr>
          <p:cNvPr id="18" name="Graphic 17" descr="Close with solid fill">
            <a:extLst>
              <a:ext uri="{FF2B5EF4-FFF2-40B4-BE49-F238E27FC236}">
                <a16:creationId xmlns:a16="http://schemas.microsoft.com/office/drawing/2014/main" id="{09FF3F12-9BAA-A168-4E7F-83F8A67D0B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4047" y="3216710"/>
            <a:ext cx="266264" cy="279401"/>
          </a:xfrm>
          <a:prstGeom prst="rect">
            <a:avLst/>
          </a:prstGeom>
        </p:spPr>
      </p:pic>
      <p:pic>
        <p:nvPicPr>
          <p:cNvPr id="19" name="Graphic 18" descr="Close with solid fill">
            <a:extLst>
              <a:ext uri="{FF2B5EF4-FFF2-40B4-BE49-F238E27FC236}">
                <a16:creationId xmlns:a16="http://schemas.microsoft.com/office/drawing/2014/main" id="{85C18252-F3AE-60D3-1AF0-064C49ED4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1653" y="3616467"/>
            <a:ext cx="266264" cy="279401"/>
          </a:xfrm>
          <a:prstGeom prst="rect">
            <a:avLst/>
          </a:prstGeom>
        </p:spPr>
      </p:pic>
      <p:pic>
        <p:nvPicPr>
          <p:cNvPr id="20" name="Graphic 19" descr="Checkmark with solid fill">
            <a:extLst>
              <a:ext uri="{FF2B5EF4-FFF2-40B4-BE49-F238E27FC236}">
                <a16:creationId xmlns:a16="http://schemas.microsoft.com/office/drawing/2014/main" id="{FCAEB19B-0957-648A-F915-733AF3E725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9359" y="3633582"/>
            <a:ext cx="261884" cy="270642"/>
          </a:xfrm>
          <a:prstGeom prst="rect">
            <a:avLst/>
          </a:prstGeom>
        </p:spPr>
      </p:pic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8BF65CDA-049C-3017-B1EE-FCD7BBA71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7931" y="3623656"/>
            <a:ext cx="266264" cy="279401"/>
          </a:xfrm>
          <a:prstGeom prst="rect">
            <a:avLst/>
          </a:prstGeom>
        </p:spPr>
      </p:pic>
      <p:pic>
        <p:nvPicPr>
          <p:cNvPr id="22" name="Graphic 21" descr="Close with solid fill">
            <a:extLst>
              <a:ext uri="{FF2B5EF4-FFF2-40B4-BE49-F238E27FC236}">
                <a16:creationId xmlns:a16="http://schemas.microsoft.com/office/drawing/2014/main" id="{E7270EA4-109B-5CB1-6BD6-C3058936F7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7862" y="3628035"/>
            <a:ext cx="266264" cy="279401"/>
          </a:xfrm>
          <a:prstGeom prst="rect">
            <a:avLst/>
          </a:prstGeom>
        </p:spPr>
      </p:pic>
      <p:pic>
        <p:nvPicPr>
          <p:cNvPr id="25" name="Graphic 24" descr="Close with solid fill">
            <a:extLst>
              <a:ext uri="{FF2B5EF4-FFF2-40B4-BE49-F238E27FC236}">
                <a16:creationId xmlns:a16="http://schemas.microsoft.com/office/drawing/2014/main" id="{01E9CD09-6B5C-0BB0-38F3-D3802E006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6075" y="3615682"/>
            <a:ext cx="266264" cy="279401"/>
          </a:xfrm>
          <a:prstGeom prst="rect">
            <a:avLst/>
          </a:prstGeom>
        </p:spPr>
      </p:pic>
      <p:pic>
        <p:nvPicPr>
          <p:cNvPr id="27" name="Graphic 26" descr="Checkmark with solid fill">
            <a:extLst>
              <a:ext uri="{FF2B5EF4-FFF2-40B4-BE49-F238E27FC236}">
                <a16:creationId xmlns:a16="http://schemas.microsoft.com/office/drawing/2014/main" id="{6E7E3CE0-7C5E-9568-3F84-0B599DD14F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9359" y="4028959"/>
            <a:ext cx="261884" cy="270642"/>
          </a:xfrm>
          <a:prstGeom prst="rect">
            <a:avLst/>
          </a:prstGeom>
        </p:spPr>
      </p:pic>
      <p:pic>
        <p:nvPicPr>
          <p:cNvPr id="32" name="Graphic 31" descr="Checkmark with solid fill">
            <a:extLst>
              <a:ext uri="{FF2B5EF4-FFF2-40B4-BE49-F238E27FC236}">
                <a16:creationId xmlns:a16="http://schemas.microsoft.com/office/drawing/2014/main" id="{B431BD7D-786F-6182-28AA-FA299851F1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0929" y="4013528"/>
            <a:ext cx="261884" cy="270642"/>
          </a:xfrm>
          <a:prstGeom prst="rect">
            <a:avLst/>
          </a:prstGeom>
        </p:spPr>
      </p:pic>
      <p:pic>
        <p:nvPicPr>
          <p:cNvPr id="30" name="Graphic 29" descr="Close with solid fill">
            <a:extLst>
              <a:ext uri="{FF2B5EF4-FFF2-40B4-BE49-F238E27FC236}">
                <a16:creationId xmlns:a16="http://schemas.microsoft.com/office/drawing/2014/main" id="{68F1F2C7-3C6F-2446-41FA-CFC89BC16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4047" y="4014653"/>
            <a:ext cx="266264" cy="279401"/>
          </a:xfrm>
          <a:prstGeom prst="rect">
            <a:avLst/>
          </a:prstGeom>
        </p:spPr>
      </p:pic>
      <p:pic>
        <p:nvPicPr>
          <p:cNvPr id="33" name="Graphic 32" descr="Checkmark with solid fill">
            <a:extLst>
              <a:ext uri="{FF2B5EF4-FFF2-40B4-BE49-F238E27FC236}">
                <a16:creationId xmlns:a16="http://schemas.microsoft.com/office/drawing/2014/main" id="{3AB28869-C228-5831-2292-8BB5E670DB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58066" y="4014581"/>
            <a:ext cx="261884" cy="270642"/>
          </a:xfrm>
          <a:prstGeom prst="rect">
            <a:avLst/>
          </a:prstGeom>
        </p:spPr>
      </p:pic>
      <p:pic>
        <p:nvPicPr>
          <p:cNvPr id="34" name="Graphic 33" descr="Checkmark with solid fill">
            <a:extLst>
              <a:ext uri="{FF2B5EF4-FFF2-40B4-BE49-F238E27FC236}">
                <a16:creationId xmlns:a16="http://schemas.microsoft.com/office/drawing/2014/main" id="{D630C0B1-DF74-C700-F113-CD0ABFCB42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58576" y="4028959"/>
            <a:ext cx="261884" cy="270642"/>
          </a:xfrm>
          <a:prstGeom prst="rect">
            <a:avLst/>
          </a:prstGeom>
        </p:spPr>
      </p:pic>
      <p:pic>
        <p:nvPicPr>
          <p:cNvPr id="35" name="Graphic 34" descr="Checkmark with solid fill">
            <a:extLst>
              <a:ext uri="{FF2B5EF4-FFF2-40B4-BE49-F238E27FC236}">
                <a16:creationId xmlns:a16="http://schemas.microsoft.com/office/drawing/2014/main" id="{C2AA6326-7AEC-9575-A4AA-960D66A935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7330" y="2048477"/>
            <a:ext cx="261884" cy="270642"/>
          </a:xfrm>
          <a:prstGeom prst="rect">
            <a:avLst/>
          </a:prstGeom>
        </p:spPr>
      </p:pic>
      <p:pic>
        <p:nvPicPr>
          <p:cNvPr id="36" name="Graphic 35" descr="Close with solid fill">
            <a:extLst>
              <a:ext uri="{FF2B5EF4-FFF2-40B4-BE49-F238E27FC236}">
                <a16:creationId xmlns:a16="http://schemas.microsoft.com/office/drawing/2014/main" id="{3FFDDF62-D686-0033-D6FD-A599D44CD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5247" y="2049335"/>
            <a:ext cx="266264" cy="279401"/>
          </a:xfrm>
          <a:prstGeom prst="rect">
            <a:avLst/>
          </a:prstGeom>
        </p:spPr>
      </p:pic>
      <p:pic>
        <p:nvPicPr>
          <p:cNvPr id="37" name="Graphic 36" descr="Close with solid fill">
            <a:extLst>
              <a:ext uri="{FF2B5EF4-FFF2-40B4-BE49-F238E27FC236}">
                <a16:creationId xmlns:a16="http://schemas.microsoft.com/office/drawing/2014/main" id="{F41DEAEB-2D31-A6F0-9572-12C8203F1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6399" y="2038552"/>
            <a:ext cx="266264" cy="279401"/>
          </a:xfrm>
          <a:prstGeom prst="rect">
            <a:avLst/>
          </a:prstGeom>
        </p:spPr>
      </p:pic>
      <p:pic>
        <p:nvPicPr>
          <p:cNvPr id="38" name="Graphic 37" descr="Close with solid fill">
            <a:extLst>
              <a:ext uri="{FF2B5EF4-FFF2-40B4-BE49-F238E27FC236}">
                <a16:creationId xmlns:a16="http://schemas.microsoft.com/office/drawing/2014/main" id="{2CE6D7FF-484E-A3F5-3DC1-7D3FC194B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6908" y="2049335"/>
            <a:ext cx="266264" cy="279401"/>
          </a:xfrm>
          <a:prstGeom prst="rect">
            <a:avLst/>
          </a:prstGeom>
        </p:spPr>
      </p:pic>
      <p:pic>
        <p:nvPicPr>
          <p:cNvPr id="39" name="Graphic 38" descr="Close with solid fill">
            <a:extLst>
              <a:ext uri="{FF2B5EF4-FFF2-40B4-BE49-F238E27FC236}">
                <a16:creationId xmlns:a16="http://schemas.microsoft.com/office/drawing/2014/main" id="{F4FD75B3-8A88-1747-1F08-3B80B1AAC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5248" y="2038552"/>
            <a:ext cx="266264" cy="279401"/>
          </a:xfrm>
          <a:prstGeom prst="rect">
            <a:avLst/>
          </a:prstGeom>
        </p:spPr>
      </p:pic>
      <p:pic>
        <p:nvPicPr>
          <p:cNvPr id="40" name="Graphic 39" descr="Checkmark with solid fill">
            <a:extLst>
              <a:ext uri="{FF2B5EF4-FFF2-40B4-BE49-F238E27FC236}">
                <a16:creationId xmlns:a16="http://schemas.microsoft.com/office/drawing/2014/main" id="{41FCB27A-D6B0-1780-FFBD-862CEFD39E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9358" y="4405629"/>
            <a:ext cx="261884" cy="270642"/>
          </a:xfrm>
          <a:prstGeom prst="rect">
            <a:avLst/>
          </a:prstGeom>
        </p:spPr>
      </p:pic>
      <p:pic>
        <p:nvPicPr>
          <p:cNvPr id="41" name="Graphic 40" descr="Checkmark with solid fill">
            <a:extLst>
              <a:ext uri="{FF2B5EF4-FFF2-40B4-BE49-F238E27FC236}">
                <a16:creationId xmlns:a16="http://schemas.microsoft.com/office/drawing/2014/main" id="{5FA6BC88-1A6E-1BD6-838E-1E9070CD48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4887" y="4406364"/>
            <a:ext cx="261884" cy="270642"/>
          </a:xfrm>
          <a:prstGeom prst="rect">
            <a:avLst/>
          </a:prstGeom>
        </p:spPr>
      </p:pic>
      <p:pic>
        <p:nvPicPr>
          <p:cNvPr id="42" name="Graphic 41" descr="Checkmark with solid fill">
            <a:extLst>
              <a:ext uri="{FF2B5EF4-FFF2-40B4-BE49-F238E27FC236}">
                <a16:creationId xmlns:a16="http://schemas.microsoft.com/office/drawing/2014/main" id="{7363808D-7448-B17E-E28B-49C01C7414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6453" y="4406364"/>
            <a:ext cx="261884" cy="270642"/>
          </a:xfrm>
          <a:prstGeom prst="rect">
            <a:avLst/>
          </a:prstGeom>
        </p:spPr>
      </p:pic>
      <p:pic>
        <p:nvPicPr>
          <p:cNvPr id="43" name="Graphic 42" descr="Checkmark with solid fill">
            <a:extLst>
              <a:ext uri="{FF2B5EF4-FFF2-40B4-BE49-F238E27FC236}">
                <a16:creationId xmlns:a16="http://schemas.microsoft.com/office/drawing/2014/main" id="{28EED3D5-7C1A-C62E-7CC4-D80BF53DD9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0142" y="4406364"/>
            <a:ext cx="261884" cy="270642"/>
          </a:xfrm>
          <a:prstGeom prst="rect">
            <a:avLst/>
          </a:prstGeom>
        </p:spPr>
      </p:pic>
      <p:pic>
        <p:nvPicPr>
          <p:cNvPr id="52" name="Graphic 51" descr="Close with solid fill">
            <a:extLst>
              <a:ext uri="{FF2B5EF4-FFF2-40B4-BE49-F238E27FC236}">
                <a16:creationId xmlns:a16="http://schemas.microsoft.com/office/drawing/2014/main" id="{DA2728B4-7D6D-6C04-A160-1C29DB93B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3903" y="4406596"/>
            <a:ext cx="266264" cy="279401"/>
          </a:xfrm>
          <a:prstGeom prst="rect">
            <a:avLst/>
          </a:prstGeom>
        </p:spPr>
      </p:pic>
      <p:pic>
        <p:nvPicPr>
          <p:cNvPr id="53" name="Graphic 52" descr="Checkmark with solid fill">
            <a:extLst>
              <a:ext uri="{FF2B5EF4-FFF2-40B4-BE49-F238E27FC236}">
                <a16:creationId xmlns:a16="http://schemas.microsoft.com/office/drawing/2014/main" id="{00D16808-0FC1-74B0-0296-77F0CB9340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9998" y="2428870"/>
            <a:ext cx="261884" cy="270642"/>
          </a:xfrm>
          <a:prstGeom prst="rect">
            <a:avLst/>
          </a:prstGeom>
        </p:spPr>
      </p:pic>
      <p:pic>
        <p:nvPicPr>
          <p:cNvPr id="54" name="Graphic 53" descr="Checkmark with solid fill">
            <a:extLst>
              <a:ext uri="{FF2B5EF4-FFF2-40B4-BE49-F238E27FC236}">
                <a16:creationId xmlns:a16="http://schemas.microsoft.com/office/drawing/2014/main" id="{67683A57-897D-4332-BA1E-74F3B396EF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5506" y="2428908"/>
            <a:ext cx="261884" cy="270642"/>
          </a:xfrm>
          <a:prstGeom prst="rect">
            <a:avLst/>
          </a:prstGeom>
        </p:spPr>
      </p:pic>
      <p:pic>
        <p:nvPicPr>
          <p:cNvPr id="56" name="Graphic 55" descr="Checkmark with solid fill">
            <a:extLst>
              <a:ext uri="{FF2B5EF4-FFF2-40B4-BE49-F238E27FC236}">
                <a16:creationId xmlns:a16="http://schemas.microsoft.com/office/drawing/2014/main" id="{9E5FD80F-3F24-1121-B5EB-CF51C643C9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92443" y="2833857"/>
            <a:ext cx="261884" cy="27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501799"/>
      </p:ext>
    </p:extLst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38FEDDED-CB8D-43EC-BAB6-6DB72148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/>
              <a:t>Feasibility Analysis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E3F644C0-73FD-8A22-3749-8A1C54C208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07442" y="2796015"/>
            <a:ext cx="2806280" cy="365125"/>
          </a:xfrm>
        </p:spPr>
        <p:txBody>
          <a:bodyPr lIns="91440" tIns="45720" rIns="91440" bIns="45720" anchor="t"/>
          <a:lstStyle/>
          <a:p>
            <a:r>
              <a:rPr lang="en-US"/>
              <a:t>Technical Feasibility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6685784A-B1DA-6053-B09F-E5AB4825DC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14520" y="3457856"/>
            <a:ext cx="2806280" cy="365125"/>
          </a:xfrm>
        </p:spPr>
        <p:txBody>
          <a:bodyPr lIns="91440" tIns="45720" rIns="91440" bIns="45720" anchor="t"/>
          <a:lstStyle/>
          <a:p>
            <a:r>
              <a:rPr lang="en-US" b="1"/>
              <a:t>Financial Feasibility</a:t>
            </a:r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98572F2-039E-0DFE-5B1B-C88C95C4AD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37254" y="3453477"/>
            <a:ext cx="2797342" cy="365125"/>
          </a:xfrm>
        </p:spPr>
        <p:txBody>
          <a:bodyPr lIns="91440" tIns="45720" rIns="91440" bIns="45720" anchor="t"/>
          <a:lstStyle/>
          <a:p>
            <a:r>
              <a:rPr lang="en-US" b="1"/>
              <a:t>Operation Feasibility</a:t>
            </a:r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5EC8A42-193D-43A9-B162-8977ADBDB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DD70FC9-BBF2-4AF1-9A64-0FB921683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D1FC6F8-0BCD-47E9-9C64-690771D9C14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7AD6D70D-2AAF-3A41-0B06-19B51C891ACD}"/>
              </a:ext>
            </a:extLst>
          </p:cNvPr>
          <p:cNvSpPr txBox="1">
            <a:spLocks/>
          </p:cNvSpPr>
          <p:nvPr/>
        </p:nvSpPr>
        <p:spPr>
          <a:xfrm>
            <a:off x="964635" y="2790760"/>
            <a:ext cx="2806280" cy="36512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none" spc="200" baseline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Scope &amp; Purpose</a:t>
            </a:r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F3E2817-C771-9122-05E8-6AE98222ED75}"/>
              </a:ext>
            </a:extLst>
          </p:cNvPr>
          <p:cNvSpPr txBox="1">
            <a:spLocks/>
          </p:cNvSpPr>
          <p:nvPr/>
        </p:nvSpPr>
        <p:spPr>
          <a:xfrm>
            <a:off x="4516255" y="2790760"/>
            <a:ext cx="2806280" cy="36512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none" spc="200" baseline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Market Feasibility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7E3AF452-2B63-75D5-37C9-F1EEA370DEF6}"/>
              </a:ext>
            </a:extLst>
          </p:cNvPr>
          <p:cNvSpPr txBox="1">
            <a:spLocks/>
          </p:cNvSpPr>
          <p:nvPr/>
        </p:nvSpPr>
        <p:spPr>
          <a:xfrm>
            <a:off x="964634" y="3452035"/>
            <a:ext cx="2806280" cy="36512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none" spc="200" baseline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Legal Feasibility</a:t>
            </a:r>
          </a:p>
        </p:txBody>
      </p:sp>
      <p:sp>
        <p:nvSpPr>
          <p:cNvPr id="22" name="Text Placeholder 28">
            <a:extLst>
              <a:ext uri="{FF2B5EF4-FFF2-40B4-BE49-F238E27FC236}">
                <a16:creationId xmlns:a16="http://schemas.microsoft.com/office/drawing/2014/main" id="{FAF71413-6992-837B-C22E-0EED780025C0}"/>
              </a:ext>
            </a:extLst>
          </p:cNvPr>
          <p:cNvSpPr txBox="1">
            <a:spLocks/>
          </p:cNvSpPr>
          <p:nvPr/>
        </p:nvSpPr>
        <p:spPr>
          <a:xfrm>
            <a:off x="4513644" y="4109497"/>
            <a:ext cx="2806280" cy="36512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none" spc="200" baseline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Risk Assessment</a:t>
            </a:r>
            <a:endParaRPr lang="en-US"/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741B4811-106E-5208-927A-1677AA2943AB}"/>
              </a:ext>
            </a:extLst>
          </p:cNvPr>
          <p:cNvSpPr txBox="1">
            <a:spLocks/>
          </p:cNvSpPr>
          <p:nvPr/>
        </p:nvSpPr>
        <p:spPr>
          <a:xfrm>
            <a:off x="8062653" y="4109497"/>
            <a:ext cx="2692240" cy="36512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none" spc="200" baseline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Conclusions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54E3F623-70F1-3734-30FB-F7B6C20E91CC}"/>
              </a:ext>
            </a:extLst>
          </p:cNvPr>
          <p:cNvSpPr txBox="1">
            <a:spLocks/>
          </p:cNvSpPr>
          <p:nvPr/>
        </p:nvSpPr>
        <p:spPr>
          <a:xfrm>
            <a:off x="969013" y="4108931"/>
            <a:ext cx="2806280" cy="36512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none" spc="200" baseline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Timeline Feasibility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99"/>
      </p:ext>
    </p:extLst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D2850-A8F1-4858-4641-2446432F1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258F24A-55BC-94B3-C426-E8721F658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486" y="1849902"/>
            <a:ext cx="4985606" cy="580029"/>
          </a:xfrm>
        </p:spPr>
        <p:txBody>
          <a:bodyPr lIns="91440" tIns="45720" rIns="91440" bIns="45720" anchor="t"/>
          <a:lstStyle/>
          <a:p>
            <a:pPr algn="ctr">
              <a:spcBef>
                <a:spcPts val="1000"/>
              </a:spcBef>
            </a:pPr>
            <a:r>
              <a:rPr lang="en-US" sz="3200">
                <a:solidFill>
                  <a:srgbClr val="0BE1FF"/>
                </a:solidFill>
                <a:ea typeface="+mj-lt"/>
                <a:cs typeface="+mj-lt"/>
              </a:rPr>
              <a:t>Scope &amp; Purpose</a:t>
            </a:r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45CBDA1-0F99-667F-176F-48DD907B349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82842" y="2706367"/>
            <a:ext cx="5824073" cy="2911699"/>
          </a:xfrm>
        </p:spPr>
        <p:txBody>
          <a:bodyPr lIns="91440" tIns="45720" rIns="91440" bIns="45720" anchor="t"/>
          <a:lstStyle/>
          <a:p>
            <a:pPr algn="l">
              <a:lnSpc>
                <a:spcPct val="150000"/>
              </a:lnSpc>
            </a:pPr>
            <a:r>
              <a:rPr lang="en-ZA" sz="1600"/>
              <a:t>Problem statement: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en-ZA" sz="1600"/>
              <a:t>No simple way to find nearby places to rest or eat, while driving.</a:t>
            </a:r>
          </a:p>
          <a:p>
            <a:pPr algn="l">
              <a:lnSpc>
                <a:spcPct val="150000"/>
              </a:lnSpc>
            </a:pPr>
            <a:r>
              <a:rPr lang="en-ZA" sz="1600"/>
              <a:t>Target users: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en-ZA" sz="1600"/>
              <a:t>Drivers, both commercial and leisure travellers.</a:t>
            </a:r>
          </a:p>
          <a:p>
            <a:pPr algn="l">
              <a:lnSpc>
                <a:spcPct val="150000"/>
              </a:lnSpc>
            </a:pPr>
            <a:r>
              <a:rPr lang="en-ZA" sz="1600"/>
              <a:t>Core features: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en-ZA" sz="1600"/>
              <a:t>AI Overview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en-ZA" sz="1600"/>
              <a:t>Real-time updates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en-ZA" sz="1600"/>
              <a:t>Regulation-compliant</a:t>
            </a:r>
            <a:br>
              <a:rPr lang="en-ZA" sz="1600"/>
            </a:br>
            <a:endParaRPr lang="en-ZA" sz="1600"/>
          </a:p>
          <a:p>
            <a:pPr algn="l">
              <a:lnSpc>
                <a:spcPct val="150000"/>
              </a:lnSpc>
            </a:pPr>
            <a:endParaRPr lang="en-ZA" sz="16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11F69D-5F9F-1E1B-9DC3-03B91687E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F691B-48AE-AFB0-D9F5-EA35A35B0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563037"/>
      </p:ext>
    </p:extLst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A60D3-69EB-C606-9C60-54F409478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1CBF0819-4E31-4ACF-DDA5-9D6497441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486" y="1849902"/>
            <a:ext cx="4985606" cy="580029"/>
          </a:xfrm>
        </p:spPr>
        <p:txBody>
          <a:bodyPr lIns="91440" tIns="45720" rIns="91440" bIns="45720" anchor="t"/>
          <a:lstStyle/>
          <a:p>
            <a:pPr algn="ctr">
              <a:spcBef>
                <a:spcPts val="1000"/>
              </a:spcBef>
            </a:pPr>
            <a:r>
              <a:rPr lang="en-US" sz="3200">
                <a:solidFill>
                  <a:srgbClr val="0BE1FF"/>
                </a:solidFill>
                <a:ea typeface="+mj-lt"/>
                <a:cs typeface="+mj-lt"/>
              </a:rPr>
              <a:t>Market Feasibility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4DF7F75C-7081-6EED-A6B7-27D6E807E31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82842" y="2706367"/>
            <a:ext cx="5824073" cy="2911699"/>
          </a:xfrm>
        </p:spPr>
        <p:txBody>
          <a:bodyPr lIns="91440" tIns="45720" rIns="91440" bIns="45720" anchor="t"/>
          <a:lstStyle/>
          <a:p>
            <a:pPr algn="l">
              <a:lnSpc>
                <a:spcPct val="150000"/>
              </a:lnSpc>
            </a:pPr>
            <a:r>
              <a:rPr lang="en-ZA" sz="1400"/>
              <a:t>Anyone with a smartphone or smart vehicle:</a:t>
            </a:r>
            <a:endParaRPr lang="en-ZA" sz="1400"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r>
              <a:rPr lang="en-ZA" sz="1400"/>
              <a:t>250+ million Android Auto vehicles, about 16.9% of all cars – including 3rd world countries, about 28% otherwise.</a:t>
            </a:r>
          </a:p>
          <a:p>
            <a:pPr algn="l">
              <a:lnSpc>
                <a:spcPct val="150000"/>
              </a:lnSpc>
            </a:pPr>
            <a:endParaRPr lang="en-ZA" sz="1400"/>
          </a:p>
          <a:p>
            <a:pPr algn="l">
              <a:lnSpc>
                <a:spcPct val="150000"/>
              </a:lnSpc>
            </a:pPr>
            <a:endParaRPr lang="en-ZA" sz="1400"/>
          </a:p>
          <a:p>
            <a:pPr algn="l">
              <a:lnSpc>
                <a:spcPct val="150000"/>
              </a:lnSpc>
            </a:pPr>
            <a:endParaRPr lang="en-ZA" sz="1400"/>
          </a:p>
          <a:p>
            <a:pPr algn="l">
              <a:lnSpc>
                <a:spcPct val="150000"/>
              </a:lnSpc>
            </a:pPr>
            <a:endParaRPr lang="en-ZA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1D78B2-8C67-0A4D-1852-BDDD2FEA45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2D64F-948E-78C1-14F1-F772E2F93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175BC2-52B9-B1FB-F355-803E483049B8}"/>
              </a:ext>
            </a:extLst>
          </p:cNvPr>
          <p:cNvSpPr txBox="1"/>
          <p:nvPr/>
        </p:nvSpPr>
        <p:spPr>
          <a:xfrm>
            <a:off x="108607" y="6524297"/>
            <a:ext cx="5624786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https://en.wikipedia.org/wiki/List_of_countries_and_territories_by_motor_vehicles_per_capita</a:t>
            </a:r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EA05D-0D14-6CA5-400B-C8050E51CF73}"/>
              </a:ext>
            </a:extLst>
          </p:cNvPr>
          <p:cNvSpPr txBox="1"/>
          <p:nvPr/>
        </p:nvSpPr>
        <p:spPr>
          <a:xfrm>
            <a:off x="108607" y="6344744"/>
            <a:ext cx="4656958" cy="182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720"/>
              </a:lnSpc>
            </a:pPr>
            <a:r>
              <a:rPr lang="en-US" sz="700">
                <a:solidFill>
                  <a:schemeClr val="bg1"/>
                </a:solidFill>
              </a:rPr>
              <a:t>https://9to5google.com/2025/05/14/android-auto-is-now-on-over-250-million-cars/​</a:t>
            </a:r>
          </a:p>
        </p:txBody>
      </p:sp>
    </p:spTree>
    <p:extLst>
      <p:ext uri="{BB962C8B-B14F-4D97-AF65-F5344CB8AC3E}">
        <p14:creationId xmlns:p14="http://schemas.microsoft.com/office/powerpoint/2010/main" val="1069258758"/>
      </p:ext>
    </p:extLst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EBB26-75C7-AB69-71A2-15A470BB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77624F7E-BD95-8CBF-0DF5-2535537A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831" y="1849902"/>
            <a:ext cx="5813295" cy="580029"/>
          </a:xfrm>
        </p:spPr>
        <p:txBody>
          <a:bodyPr lIns="91440" tIns="45720" rIns="91440" bIns="45720" anchor="t"/>
          <a:lstStyle/>
          <a:p>
            <a:pPr algn="ctr">
              <a:spcBef>
                <a:spcPts val="1000"/>
              </a:spcBef>
            </a:pPr>
            <a:r>
              <a:rPr lang="en-US" sz="3200">
                <a:solidFill>
                  <a:srgbClr val="0BE1FF"/>
                </a:solidFill>
                <a:ea typeface="+mj-lt"/>
                <a:cs typeface="+mj-lt"/>
              </a:rPr>
              <a:t>Technical Feasibility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48991D3A-B696-36EF-6E9A-A2276BC4EF9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82842" y="2706367"/>
            <a:ext cx="5824073" cy="2911699"/>
          </a:xfrm>
        </p:spPr>
        <p:txBody>
          <a:bodyPr lIns="91440" tIns="45720" rIns="91440" bIns="45720" anchor="t"/>
          <a:lstStyle/>
          <a:p>
            <a:pPr algn="l">
              <a:lnSpc>
                <a:spcPct val="150000"/>
              </a:lnSpc>
            </a:pPr>
            <a:r>
              <a:rPr lang="en-ZA" sz="1600"/>
              <a:t>Core Technologies: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en-ZA" sz="1600"/>
              <a:t>React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en-ZA" sz="1600"/>
              <a:t>Docker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en-ZA" sz="1600" err="1"/>
              <a:t>Ollama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en-ZA" sz="1600"/>
              <a:t>Python</a:t>
            </a:r>
          </a:p>
          <a:p>
            <a:pPr algn="l">
              <a:lnSpc>
                <a:spcPct val="150000"/>
              </a:lnSpc>
            </a:pPr>
            <a:r>
              <a:rPr lang="en-ZA" sz="1600"/>
              <a:t>The application is seamlessly scalable across devices and can be used by any device capable of navigating the web.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C5F9C9-7E23-568C-8CD6-2748F086C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5878A-A37F-FBAC-7C54-4225D07FE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12304"/>
      </p:ext>
    </p:extLst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36B7E-FA95-D7C4-C758-148DFD039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2187ED11-8C38-877F-9B8E-005FAD211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486" y="1841143"/>
            <a:ext cx="4985606" cy="580029"/>
          </a:xfrm>
        </p:spPr>
        <p:txBody>
          <a:bodyPr lIns="91440" tIns="45720" rIns="91440" bIns="45720" anchor="t"/>
          <a:lstStyle/>
          <a:p>
            <a:pPr algn="ctr">
              <a:spcBef>
                <a:spcPts val="1000"/>
              </a:spcBef>
            </a:pPr>
            <a:r>
              <a:rPr lang="en-US" sz="3200">
                <a:solidFill>
                  <a:srgbClr val="0BE1FF"/>
                </a:solidFill>
                <a:ea typeface="+mj-lt"/>
                <a:cs typeface="+mj-lt"/>
              </a:rPr>
              <a:t>Legal Feasibility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3AC3E853-0C12-C1F7-A369-F5AB3F57CF0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82842" y="2706367"/>
            <a:ext cx="5824073" cy="2911699"/>
          </a:xfrm>
        </p:spPr>
        <p:txBody>
          <a:bodyPr lIns="91440" tIns="45720" rIns="91440" bIns="45720" anchor="t"/>
          <a:lstStyle/>
          <a:p>
            <a:pPr algn="l">
              <a:lnSpc>
                <a:spcPct val="150000"/>
              </a:lnSpc>
            </a:pPr>
            <a:r>
              <a:rPr lang="en-ZA" sz="1600"/>
              <a:t>GDPR and CCPA compliant: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en-ZA" sz="1600"/>
              <a:t>No personal data stored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en-ZA" sz="1600"/>
              <a:t>Only account ID linked to payments</a:t>
            </a:r>
          </a:p>
          <a:p>
            <a:pPr algn="l">
              <a:lnSpc>
                <a:spcPct val="150000"/>
              </a:lnSpc>
            </a:pPr>
            <a:endParaRPr lang="en-ZA" sz="1600"/>
          </a:p>
          <a:p>
            <a:pPr algn="l">
              <a:lnSpc>
                <a:spcPct val="150000"/>
              </a:lnSpc>
            </a:pPr>
            <a:r>
              <a:rPr lang="en-ZA" sz="1600"/>
              <a:t>Licensing: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en-ZA" sz="1600"/>
              <a:t>Use of open licenses only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en-ZA" sz="1600"/>
              <a:t>Limited use of Tripadvisor/Maps APIs</a:t>
            </a:r>
          </a:p>
          <a:p>
            <a:pPr algn="l">
              <a:lnSpc>
                <a:spcPct val="150000"/>
              </a:lnSpc>
            </a:pPr>
            <a:endParaRPr lang="en-ZA" sz="16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45700-6330-7D89-CDBC-5DFDACC199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A0548-98A9-E7B8-E5F9-ED76E6E18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83623"/>
      </p:ext>
    </p:extLst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95476-75FA-FCDE-0B8A-CA78D3A68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292847DA-5E7F-95EF-C17E-7C12EBBA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901" y="1841143"/>
            <a:ext cx="5673157" cy="580029"/>
          </a:xfrm>
        </p:spPr>
        <p:txBody>
          <a:bodyPr lIns="91440" tIns="45720" rIns="91440" bIns="45720" anchor="t"/>
          <a:lstStyle/>
          <a:p>
            <a:pPr algn="ctr">
              <a:spcBef>
                <a:spcPts val="1000"/>
              </a:spcBef>
            </a:pPr>
            <a:r>
              <a:rPr lang="en-US" sz="3200">
                <a:solidFill>
                  <a:srgbClr val="0BE1FF"/>
                </a:solidFill>
                <a:ea typeface="+mj-lt"/>
                <a:cs typeface="+mj-lt"/>
              </a:rPr>
              <a:t>Financial Feasibility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DD575EF-9AC2-5D25-C1E8-23334BBB709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82842" y="2706367"/>
            <a:ext cx="5824073" cy="3514199"/>
          </a:xfrm>
        </p:spPr>
        <p:txBody>
          <a:bodyPr lIns="91440" tIns="45720" rIns="91440" bIns="45720" anchor="t"/>
          <a:lstStyle/>
          <a:p>
            <a:pPr algn="l">
              <a:lnSpc>
                <a:spcPct val="150000"/>
              </a:lnSpc>
            </a:pPr>
            <a:r>
              <a:rPr lang="en-ZA" sz="1600" dirty="0"/>
              <a:t>Main cost factors: (worst-case)</a:t>
            </a:r>
          </a:p>
          <a:p>
            <a:pPr algn="l">
              <a:lnSpc>
                <a:spcPct val="150000"/>
              </a:lnSpc>
            </a:pPr>
            <a:r>
              <a:rPr lang="en-ZA" sz="1600" dirty="0">
                <a:ea typeface="+mn-lt"/>
                <a:cs typeface="+mn-lt"/>
              </a:rPr>
              <a:t>- Variable costs (0.005228$/Req.)</a:t>
            </a:r>
          </a:p>
          <a:p>
            <a:pPr algn="l">
              <a:lnSpc>
                <a:spcPct val="150000"/>
              </a:lnSpc>
            </a:pPr>
            <a:r>
              <a:rPr lang="en-ZA" sz="1600" dirty="0">
                <a:solidFill>
                  <a:srgbClr val="FFFFFF"/>
                </a:solidFill>
                <a:ea typeface="+mn-lt"/>
                <a:cs typeface="+mn-lt"/>
              </a:rPr>
              <a:t>    gpt-4o-mini: 0.15$/Mil in, 0.60$/Mil out</a:t>
            </a:r>
          </a:p>
          <a:p>
            <a:pPr algn="l">
              <a:lnSpc>
                <a:spcPct val="150000"/>
              </a:lnSpc>
            </a:pPr>
            <a:r>
              <a:rPr lang="en-ZA" sz="1600" dirty="0"/>
              <a:t>    Google API call: </a:t>
            </a:r>
            <a:r>
              <a:rPr lang="en-ZA" sz="1600" dirty="0">
                <a:ea typeface="+mn-lt"/>
                <a:cs typeface="+mn-lt"/>
              </a:rPr>
              <a:t>0.00512</a:t>
            </a:r>
            <a:r>
              <a:rPr lang="en-ZA" sz="1600" dirty="0"/>
              <a:t>$/Req.</a:t>
            </a:r>
          </a:p>
          <a:p>
            <a:pPr marL="285750" indent="-285750" algn="l">
              <a:lnSpc>
                <a:spcPct val="150000"/>
              </a:lnSpc>
              <a:buFont typeface="Calibri" panose="020B0604020202020204" pitchFamily="34" charset="0"/>
              <a:buChar char="-"/>
            </a:pPr>
            <a:r>
              <a:rPr lang="en-ZA" sz="1600" dirty="0"/>
              <a:t>Fixed costs</a:t>
            </a:r>
          </a:p>
          <a:p>
            <a:pPr algn="l">
              <a:lnSpc>
                <a:spcPct val="150000"/>
              </a:lnSpc>
            </a:pPr>
            <a:r>
              <a:rPr lang="en-ZA" sz="1600" dirty="0"/>
              <a:t>    AWS </a:t>
            </a:r>
            <a:r>
              <a:rPr lang="en-ZA" sz="1600" dirty="0" err="1"/>
              <a:t>Fargate</a:t>
            </a:r>
            <a:r>
              <a:rPr lang="en-ZA" sz="1600" dirty="0"/>
              <a:t>: ~300$/month with ~100k users</a:t>
            </a:r>
            <a:endParaRPr lang="en-ZA" dirty="0"/>
          </a:p>
          <a:p>
            <a:pPr algn="l">
              <a:lnSpc>
                <a:spcPct val="150000"/>
              </a:lnSpc>
            </a:pPr>
            <a:r>
              <a:rPr lang="en-ZA" sz="1600" dirty="0"/>
              <a:t>    Sponsorship campaign: $80k to $90k in the   first year</a:t>
            </a:r>
          </a:p>
          <a:p>
            <a:pPr algn="l">
              <a:lnSpc>
                <a:spcPct val="150000"/>
              </a:lnSpc>
            </a:pPr>
            <a:endParaRPr lang="en-ZA" sz="16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22D087-42C8-34B8-4F40-7D8D6B5F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67509-BC0D-AB32-3D90-BC4AD32CD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55140"/>
      </p:ext>
    </p:extLst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82447-267B-7EC5-6371-16FD211F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133A5D41-EE48-F6A8-2C5A-7FBD5821F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901" y="1841143"/>
            <a:ext cx="5673157" cy="580029"/>
          </a:xfrm>
        </p:spPr>
        <p:txBody>
          <a:bodyPr lIns="91440" tIns="45720" rIns="91440" bIns="45720" anchor="t"/>
          <a:lstStyle/>
          <a:p>
            <a:pPr algn="ctr">
              <a:spcBef>
                <a:spcPts val="1000"/>
              </a:spcBef>
            </a:pPr>
            <a:r>
              <a:rPr lang="en-US" sz="3200">
                <a:solidFill>
                  <a:srgbClr val="0BE1FF"/>
                </a:solidFill>
                <a:ea typeface="+mj-lt"/>
                <a:cs typeface="+mj-lt"/>
              </a:rPr>
              <a:t>Financial Feasibility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B0585E2C-B050-1DA5-2A1F-EABB97E6A4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82842" y="2706367"/>
            <a:ext cx="5984494" cy="3113147"/>
          </a:xfrm>
        </p:spPr>
        <p:txBody>
          <a:bodyPr lIns="91440" tIns="45720" rIns="91440" bIns="45720" anchor="t"/>
          <a:lstStyle/>
          <a:p>
            <a:pPr algn="l">
              <a:lnSpc>
                <a:spcPct val="150000"/>
              </a:lnSpc>
            </a:pPr>
            <a:r>
              <a:rPr lang="en-ZA" sz="1600" dirty="0"/>
              <a:t>Revenue per click on sponsored link: 0.94$</a:t>
            </a:r>
            <a:endParaRPr lang="en-ZA" dirty="0"/>
          </a:p>
          <a:p>
            <a:pPr algn="l">
              <a:lnSpc>
                <a:spcPct val="150000"/>
              </a:lnSpc>
            </a:pPr>
            <a:r>
              <a:rPr lang="en-ZA" sz="1600" dirty="0"/>
              <a:t>Click Through Rate for Break Even Point on variable costs: 0.556%</a:t>
            </a:r>
            <a:endParaRPr lang="en-ZA" sz="1600" dirty="0"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r>
              <a:rPr lang="en-ZA" sz="1600" dirty="0"/>
              <a:t>Then we would need only 320 more clicks to break even on fixed monthly costs.</a:t>
            </a:r>
          </a:p>
          <a:p>
            <a:pPr algn="l">
              <a:lnSpc>
                <a:spcPct val="150000"/>
              </a:lnSpc>
            </a:pPr>
            <a:r>
              <a:rPr lang="en-ZA" sz="1600" dirty="0"/>
              <a:t>Our kind of ads can expect from 5% to 10% CTR.</a:t>
            </a:r>
          </a:p>
          <a:p>
            <a:pPr algn="l">
              <a:lnSpc>
                <a:spcPct val="150000"/>
              </a:lnSpc>
            </a:pPr>
            <a:r>
              <a:rPr lang="en-ZA" sz="1600" dirty="0">
                <a:ea typeface="+mn-lt"/>
                <a:cs typeface="+mn-lt"/>
              </a:rPr>
              <a:t>At a 5% CTR with 100k users/month, we would break even on the initial investment in 19 months, as an extremely pessimistic estimate.</a:t>
            </a:r>
            <a:endParaRPr lang="en-Z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09260D-08AB-9C25-4711-0642D66496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E678D-E80B-F5DF-5DBE-57844F144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81935"/>
      </p:ext>
    </p:extLst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AFA4C-CADC-2FBE-499C-9528419C5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D7811C27-1DB0-9AED-F41D-54F80A99E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901" y="1841143"/>
            <a:ext cx="5673157" cy="580029"/>
          </a:xfrm>
        </p:spPr>
        <p:txBody>
          <a:bodyPr lIns="91440" tIns="45720" rIns="91440" bIns="45720" anchor="t"/>
          <a:lstStyle/>
          <a:p>
            <a:pPr algn="ctr">
              <a:spcBef>
                <a:spcPts val="1000"/>
              </a:spcBef>
            </a:pPr>
            <a:r>
              <a:rPr lang="en-US" sz="3200">
                <a:solidFill>
                  <a:srgbClr val="0BE1FF"/>
                </a:solidFill>
                <a:ea typeface="+mj-lt"/>
                <a:cs typeface="+mj-lt"/>
              </a:rPr>
              <a:t>Financial Feasibility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F3ED6D1C-BAC9-985F-762A-A33C9C8453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82842" y="2706367"/>
            <a:ext cx="5824073" cy="3417947"/>
          </a:xfrm>
        </p:spPr>
        <p:txBody>
          <a:bodyPr lIns="91440" tIns="45720" rIns="91440" bIns="45720" anchor="t"/>
          <a:lstStyle/>
          <a:p>
            <a:pPr algn="l">
              <a:lnSpc>
                <a:spcPct val="150000"/>
              </a:lnSpc>
            </a:pPr>
            <a:r>
              <a:rPr lang="en-ZA" sz="1600"/>
              <a:t>Leveraging simple caching technologies, most of the results in crowded zones are not subject to API or LLM costs.</a:t>
            </a:r>
          </a:p>
          <a:p>
            <a:pPr algn="l">
              <a:lnSpc>
                <a:spcPct val="150000"/>
              </a:lnSpc>
            </a:pPr>
            <a:endParaRPr lang="en-ZA" sz="1600"/>
          </a:p>
          <a:p>
            <a:pPr algn="l">
              <a:lnSpc>
                <a:spcPct val="150000"/>
              </a:lnSpc>
            </a:pPr>
            <a:r>
              <a:rPr lang="en-ZA" sz="1600"/>
              <a:t>Simulations indicate an average of 70.55% API calls saved in a territory like Tuscany</a:t>
            </a:r>
          </a:p>
          <a:p>
            <a:pPr algn="l">
              <a:lnSpc>
                <a:spcPct val="150000"/>
              </a:lnSpc>
            </a:pPr>
            <a:endParaRPr lang="en-ZA" sz="1600"/>
          </a:p>
          <a:p>
            <a:pPr algn="l">
              <a:lnSpc>
                <a:spcPct val="150000"/>
              </a:lnSpc>
            </a:pPr>
            <a:r>
              <a:rPr lang="en-ZA" sz="1600"/>
              <a:t>This means that on average the BEP </a:t>
            </a:r>
            <a:r>
              <a:rPr lang="en-ZA" sz="1600">
                <a:ea typeface="+mn-lt"/>
                <a:cs typeface="+mn-lt"/>
              </a:rPr>
              <a:t>on VC</a:t>
            </a:r>
            <a:r>
              <a:rPr lang="en-ZA" sz="1600"/>
              <a:t> is at </a:t>
            </a:r>
            <a:r>
              <a:rPr lang="en-ZA" sz="1600">
                <a:ea typeface="+mn-lt"/>
                <a:cs typeface="+mn-lt"/>
              </a:rPr>
              <a:t> 0.164%.</a:t>
            </a:r>
          </a:p>
          <a:p>
            <a:pPr algn="l">
              <a:lnSpc>
                <a:spcPct val="150000"/>
              </a:lnSpc>
            </a:pPr>
            <a:endParaRPr lang="en-ZA" sz="16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26045-DC02-49AE-6AF8-3EA13D51E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83886-74FF-71E2-47C0-60D3C11D2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9716"/>
      </p:ext>
    </p:extLst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E8AD0-5935-9658-2EFF-E8B4A6439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22B99C12-38DE-AED0-5918-DED98FC1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901" y="1841143"/>
            <a:ext cx="5673157" cy="580029"/>
          </a:xfrm>
        </p:spPr>
        <p:txBody>
          <a:bodyPr lIns="91440" tIns="45720" rIns="91440" bIns="45720" anchor="t"/>
          <a:lstStyle/>
          <a:p>
            <a:pPr algn="ctr">
              <a:spcBef>
                <a:spcPts val="1000"/>
              </a:spcBef>
            </a:pPr>
            <a:r>
              <a:rPr lang="en-US" sz="3200">
                <a:solidFill>
                  <a:srgbClr val="0BE1FF"/>
                </a:solidFill>
                <a:ea typeface="+mj-lt"/>
                <a:cs typeface="+mj-lt"/>
              </a:rPr>
              <a:t>Financial Feasibility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EE2EE1-035D-789C-9C38-C963C05858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A1092-5318-E9CF-BBD4-8E546B644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10839F-0FBF-CD6D-F890-8FFDAB02D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865" y="2524896"/>
            <a:ext cx="4966414" cy="3311687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8B205B0-0A66-F072-788E-C90F7407AD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8" r="182" b="790"/>
          <a:stretch>
            <a:fillRect/>
          </a:stretch>
        </p:blipFill>
        <p:spPr>
          <a:xfrm>
            <a:off x="7536470" y="2523082"/>
            <a:ext cx="2423424" cy="331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636130"/>
      </p:ext>
    </p:extLst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152E2-9C08-8E74-CFF1-6A10F6B84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65E9670D-6DF2-D072-28B5-1649FD76B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901" y="1841143"/>
            <a:ext cx="5673157" cy="580029"/>
          </a:xfrm>
        </p:spPr>
        <p:txBody>
          <a:bodyPr lIns="91440" tIns="45720" rIns="91440" bIns="45720" anchor="t"/>
          <a:lstStyle/>
          <a:p>
            <a:pPr algn="ctr">
              <a:spcBef>
                <a:spcPts val="1000"/>
              </a:spcBef>
            </a:pPr>
            <a:r>
              <a:rPr lang="en-US" sz="3200">
                <a:solidFill>
                  <a:srgbClr val="0BE1FF"/>
                </a:solidFill>
                <a:ea typeface="+mj-lt"/>
                <a:cs typeface="+mj-lt"/>
              </a:rPr>
              <a:t>Financial Feasibility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2D862-200E-2E42-85E6-6895C1DAF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8077A-D0D5-D100-053F-3775DA54B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A87EA8-9754-A990-3B59-224D802957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8" t="25829" b="25000"/>
          <a:stretch>
            <a:fillRect/>
          </a:stretch>
        </p:blipFill>
        <p:spPr>
          <a:xfrm flipH="1">
            <a:off x="1601194" y="2452415"/>
            <a:ext cx="2473202" cy="20757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A84426-CF4D-0FDF-179A-82584A7A8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512" y="2450223"/>
            <a:ext cx="3244929" cy="20757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9C3409-8E80-BF71-C86D-12166C2FE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079" y="2452412"/>
            <a:ext cx="3223033" cy="2080176"/>
          </a:xfrm>
          <a:prstGeom prst="rect">
            <a:avLst/>
          </a:prstGeom>
        </p:spPr>
      </p:pic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5A7C2EF-3C21-B5BA-0CCE-B75CEABFC7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4823" y="4644256"/>
            <a:ext cx="3625304" cy="208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899911"/>
      </p:ext>
    </p:extLst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281A-3D75-6F72-9D59-0DA2B9266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95A932-FBE1-B5D9-0054-D8981D487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it-IT" dirty="0"/>
              <a:t>Business model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3BAEED6-42BF-0E65-C95A-5CB2387F50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6852" y="3466317"/>
            <a:ext cx="5262797" cy="2473645"/>
          </a:xfrm>
        </p:spPr>
        <p:txBody>
          <a:bodyPr lIns="91440" tIns="45720" rIns="91440" bIns="45720" anchor="t">
            <a:noAutofit/>
          </a:bodyPr>
          <a:lstStyle/>
          <a:p>
            <a:pPr marL="285750" indent="-285750" algn="l">
              <a:buChar char="•"/>
            </a:pPr>
            <a:r>
              <a:rPr lang="it-IT" sz="1400" dirty="0"/>
              <a:t>The </a:t>
            </a:r>
            <a:r>
              <a:rPr lang="it-IT" sz="1400" dirty="0" err="1"/>
              <a:t>application</a:t>
            </a:r>
            <a:r>
              <a:rPr lang="it-IT" sz="1400" dirty="0"/>
              <a:t> </a:t>
            </a:r>
            <a:r>
              <a:rPr lang="it-IT" sz="1400" dirty="0" err="1"/>
              <a:t>is</a:t>
            </a:r>
            <a:r>
              <a:rPr lang="it-IT" sz="1400" dirty="0"/>
              <a:t> free to download</a:t>
            </a:r>
          </a:p>
          <a:p>
            <a:pPr marL="285750" indent="-285750" algn="l">
              <a:buChar char="•"/>
            </a:pPr>
            <a:r>
              <a:rPr lang="it-IT" sz="1400" dirty="0"/>
              <a:t>Direct financing of </a:t>
            </a:r>
            <a:r>
              <a:rPr lang="it-IT" sz="1400" dirty="0" err="1"/>
              <a:t>local</a:t>
            </a:r>
            <a:r>
              <a:rPr lang="it-IT" sz="1400" dirty="0"/>
              <a:t> activities </a:t>
            </a:r>
            <a:r>
              <a:rPr lang="it-IT" sz="1400" dirty="0" err="1"/>
              <a:t>through</a:t>
            </a:r>
            <a:r>
              <a:rPr lang="it-IT" sz="1400" dirty="0"/>
              <a:t> sponsor packages</a:t>
            </a:r>
          </a:p>
          <a:p>
            <a:pPr marL="285750" indent="-285750" algn="l">
              <a:buChar char="•"/>
            </a:pPr>
            <a:r>
              <a:rPr lang="it-IT" sz="1400" dirty="0" err="1"/>
              <a:t>Involvement</a:t>
            </a:r>
            <a:r>
              <a:rPr lang="it-IT" sz="1400" dirty="0"/>
              <a:t> of hotel, </a:t>
            </a:r>
            <a:r>
              <a:rPr lang="it-IT" sz="1400" dirty="0" err="1"/>
              <a:t>restaurants</a:t>
            </a:r>
            <a:r>
              <a:rPr lang="it-IT" sz="1400" dirty="0"/>
              <a:t>, </a:t>
            </a:r>
            <a:r>
              <a:rPr lang="it-IT" sz="1400" dirty="0" err="1"/>
              <a:t>enstablishments</a:t>
            </a:r>
            <a:r>
              <a:rPr lang="it-IT" sz="1400" dirty="0"/>
              <a:t> and </a:t>
            </a:r>
            <a:r>
              <a:rPr lang="it-IT" sz="1400" dirty="0" err="1"/>
              <a:t>touristic</a:t>
            </a:r>
            <a:r>
              <a:rPr lang="it-IT" sz="1400" dirty="0"/>
              <a:t> </a:t>
            </a:r>
            <a:r>
              <a:rPr lang="it-IT" sz="1400" dirty="0" err="1"/>
              <a:t>experiences</a:t>
            </a:r>
            <a:r>
              <a:rPr lang="it-IT" sz="1400" dirty="0"/>
              <a:t> providers</a:t>
            </a:r>
          </a:p>
          <a:p>
            <a:pPr marL="285750" indent="-285750" algn="l">
              <a:buChar char="•"/>
            </a:pPr>
            <a:r>
              <a:rPr lang="it-IT" sz="1400" dirty="0"/>
              <a:t>Direct offline promotion (QR </a:t>
            </a:r>
            <a:r>
              <a:rPr lang="it-IT" sz="1400" dirty="0" err="1"/>
              <a:t>codes</a:t>
            </a:r>
            <a:r>
              <a:rPr lang="it-IT" sz="1400" dirty="0"/>
              <a:t>, hotel receptions) + </a:t>
            </a:r>
            <a:r>
              <a:rPr lang="it-IT" sz="1400" dirty="0" err="1"/>
              <a:t>localized</a:t>
            </a:r>
            <a:r>
              <a:rPr lang="it-IT" sz="1400" dirty="0"/>
              <a:t> </a:t>
            </a:r>
            <a:r>
              <a:rPr lang="it-IT" sz="1400" dirty="0" err="1"/>
              <a:t>digital</a:t>
            </a:r>
            <a:r>
              <a:rPr lang="it-IT" sz="1400" dirty="0"/>
              <a:t> </a:t>
            </a:r>
            <a:r>
              <a:rPr lang="it-IT" sz="1400" dirty="0" err="1"/>
              <a:t>campaigns</a:t>
            </a:r>
            <a:endParaRPr lang="it-IT" sz="1400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B2B1D7B-33C4-938E-F35F-074D780F4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C5FA2F2-4C0D-412E-4947-4671A4EB7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21730"/>
      </p:ext>
    </p:extLst>
  </p:cSld>
  <p:clrMapOvr>
    <a:masterClrMapping/>
  </p:clrMapOvr>
  <p:transition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054DF-4169-710F-ADE3-7DFBBB8FA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A3AC0F-B092-8239-4C6D-998EAC7F3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it-IT" dirty="0"/>
              <a:t>The start-up model</a:t>
            </a:r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3C0836F-43A9-0F16-3FD1-D0A252D40F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8CB7A20-5A24-AB3C-44E9-EEB36681C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D8EB2739-57BA-3B48-96B8-B6415C885A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6510" y="3243371"/>
            <a:ext cx="6172163" cy="2666129"/>
          </a:xfrm>
        </p:spPr>
        <p:txBody>
          <a:bodyPr lIns="91440" tIns="45720" rIns="91440" bIns="45720" anchor="t">
            <a:normAutofit fontScale="92500" lnSpcReduction="10000"/>
          </a:bodyPr>
          <a:lstStyle/>
          <a:p>
            <a:r>
              <a:rPr lang="it-IT" sz="1400" dirty="0" err="1">
                <a:latin typeface="Century Gothic Bold"/>
              </a:rPr>
              <a:t>Phase</a:t>
            </a:r>
            <a:r>
              <a:rPr lang="it-IT" sz="1400" dirty="0">
                <a:latin typeface="Century Gothic Bold"/>
              </a:rPr>
              <a:t> 1- </a:t>
            </a:r>
            <a:r>
              <a:rPr lang="it-IT" sz="1400" dirty="0" err="1">
                <a:latin typeface="Century Gothic Bold"/>
              </a:rPr>
              <a:t>Launch</a:t>
            </a:r>
            <a:r>
              <a:rPr lang="it-IT" sz="1400" dirty="0">
                <a:latin typeface="Century Gothic Bold"/>
              </a:rPr>
              <a:t> (0-12 </a:t>
            </a:r>
            <a:r>
              <a:rPr lang="it-IT" sz="1400" dirty="0" err="1">
                <a:latin typeface="Century Gothic Bold"/>
              </a:rPr>
              <a:t>months</a:t>
            </a:r>
            <a:r>
              <a:rPr lang="it-IT" sz="1400" dirty="0">
                <a:latin typeface="Century Gothic Bold"/>
              </a:rPr>
              <a:t>)</a:t>
            </a:r>
          </a:p>
          <a:p>
            <a:endParaRPr lang="it-IT" sz="1400">
              <a:latin typeface="Century Gothic Bold"/>
            </a:endParaRPr>
          </a:p>
          <a:p>
            <a:pPr algn="l"/>
            <a:r>
              <a:rPr lang="it-IT" sz="1400" dirty="0" err="1"/>
              <a:t>Objective</a:t>
            </a:r>
            <a:r>
              <a:rPr lang="it-IT" sz="1400" dirty="0"/>
              <a:t>: </a:t>
            </a:r>
            <a:r>
              <a:rPr lang="it-IT" sz="1400" dirty="0" err="1"/>
              <a:t>reach</a:t>
            </a:r>
            <a:r>
              <a:rPr lang="it-IT" sz="1400" dirty="0"/>
              <a:t> 100.000 downloads and </a:t>
            </a:r>
            <a:r>
              <a:rPr lang="it-IT" sz="1400" dirty="0" err="1"/>
              <a:t>expand</a:t>
            </a:r>
            <a:r>
              <a:rPr lang="it-IT" sz="1400" dirty="0"/>
              <a:t> </a:t>
            </a:r>
            <a:r>
              <a:rPr lang="it-IT" sz="1400" dirty="0" err="1"/>
              <a:t>covered</a:t>
            </a:r>
            <a:r>
              <a:rPr lang="it-IT" sz="1400" dirty="0"/>
              <a:t> </a:t>
            </a:r>
            <a:r>
              <a:rPr lang="it-IT" sz="1400" dirty="0" err="1"/>
              <a:t>territory</a:t>
            </a:r>
            <a:r>
              <a:rPr lang="it-IT" sz="1400" dirty="0"/>
              <a:t>.</a:t>
            </a:r>
          </a:p>
          <a:p>
            <a:pPr marL="285750" indent="-285750" algn="l">
              <a:buChar char="•"/>
            </a:pPr>
            <a:endParaRPr lang="it-IT" sz="1400"/>
          </a:p>
          <a:p>
            <a:pPr algn="l"/>
            <a:r>
              <a:rPr lang="it-IT" sz="1400" dirty="0" err="1"/>
              <a:t>Most</a:t>
            </a:r>
            <a:r>
              <a:rPr lang="it-IT" sz="1400" dirty="0"/>
              <a:t> of the investment </a:t>
            </a:r>
            <a:r>
              <a:rPr lang="it-IT" sz="1400" dirty="0" err="1"/>
              <a:t>is</a:t>
            </a:r>
            <a:r>
              <a:rPr lang="it-IT" sz="1400" dirty="0"/>
              <a:t> in marketing:</a:t>
            </a:r>
          </a:p>
          <a:p>
            <a:pPr marL="285750" indent="-285750" algn="l">
              <a:buChar char="•"/>
            </a:pPr>
            <a:r>
              <a:rPr lang="it-IT" sz="1400" dirty="0"/>
              <a:t>High marketing costs: </a:t>
            </a:r>
            <a:r>
              <a:rPr lang="it-IT" sz="1400" dirty="0">
                <a:ea typeface="+mn-lt"/>
                <a:cs typeface="+mn-lt"/>
              </a:rPr>
              <a:t>$80.000 - $90.000</a:t>
            </a:r>
          </a:p>
          <a:p>
            <a:pPr marL="285750" indent="-285750" algn="l">
              <a:buChar char="•"/>
            </a:pPr>
            <a:r>
              <a:rPr lang="it-IT" sz="1400" dirty="0" err="1"/>
              <a:t>Fixed</a:t>
            </a:r>
            <a:r>
              <a:rPr lang="it-IT" sz="1400" dirty="0"/>
              <a:t> technical costs: </a:t>
            </a:r>
            <a:r>
              <a:rPr lang="it-IT" sz="1400" dirty="0">
                <a:ea typeface="+mn-lt"/>
                <a:cs typeface="+mn-lt"/>
              </a:rPr>
              <a:t> $</a:t>
            </a:r>
            <a:r>
              <a:rPr lang="it-IT" sz="1400" dirty="0"/>
              <a:t>5.700</a:t>
            </a:r>
          </a:p>
          <a:p>
            <a:pPr marL="285750" indent="-285750" algn="l">
              <a:buChar char="•"/>
            </a:pPr>
            <a:r>
              <a:rPr lang="it-IT" sz="1400" dirty="0"/>
              <a:t>Low sponsorship revenue - </a:t>
            </a:r>
            <a:r>
              <a:rPr lang="it-IT" sz="1400" dirty="0" err="1"/>
              <a:t>initial</a:t>
            </a:r>
            <a:r>
              <a:rPr lang="it-IT" sz="1400" dirty="0"/>
              <a:t> </a:t>
            </a:r>
            <a:r>
              <a:rPr lang="it-IT" sz="1400" dirty="0" err="1"/>
              <a:t>objective</a:t>
            </a:r>
            <a:r>
              <a:rPr lang="it-IT" sz="1400" dirty="0"/>
              <a:t>: </a:t>
            </a:r>
            <a:r>
              <a:rPr lang="it-IT" sz="1400" dirty="0">
                <a:ea typeface="+mn-lt"/>
                <a:cs typeface="+mn-lt"/>
              </a:rPr>
              <a:t>$50.000 - $60.000</a:t>
            </a:r>
          </a:p>
          <a:p>
            <a:pPr marL="285750" indent="-285750" algn="l">
              <a:buChar char="•"/>
            </a:pPr>
            <a:r>
              <a:rPr lang="it-IT" sz="1400" dirty="0" err="1"/>
              <a:t>Expected</a:t>
            </a:r>
            <a:r>
              <a:rPr lang="it-IT" sz="1400" dirty="0"/>
              <a:t> </a:t>
            </a:r>
            <a:r>
              <a:rPr lang="it-IT" sz="1400" dirty="0" err="1"/>
              <a:t>loss</a:t>
            </a:r>
            <a:r>
              <a:rPr lang="it-IT" sz="1400" dirty="0"/>
              <a:t> in the first </a:t>
            </a:r>
            <a:r>
              <a:rPr lang="it-IT" sz="1400" dirty="0" err="1"/>
              <a:t>year</a:t>
            </a:r>
            <a:r>
              <a:rPr lang="it-IT" sz="1400" dirty="0"/>
              <a:t>: </a:t>
            </a:r>
            <a:r>
              <a:rPr lang="it-IT" sz="1400" dirty="0" err="1"/>
              <a:t>around</a:t>
            </a:r>
            <a:r>
              <a:rPr lang="it-IT" sz="1400" dirty="0">
                <a:ea typeface="+mn-lt"/>
                <a:cs typeface="+mn-lt"/>
              </a:rPr>
              <a:t> $30.000 - $40.000</a:t>
            </a:r>
            <a:endParaRPr lang="it-IT" sz="1400" dirty="0"/>
          </a:p>
          <a:p>
            <a:endParaRPr lang="it-IT" sz="1200"/>
          </a:p>
        </p:txBody>
      </p:sp>
    </p:spTree>
    <p:extLst>
      <p:ext uri="{BB962C8B-B14F-4D97-AF65-F5344CB8AC3E}">
        <p14:creationId xmlns:p14="http://schemas.microsoft.com/office/powerpoint/2010/main" val="601272471"/>
      </p:ext>
    </p:extLst>
  </p:cSld>
  <p:clrMapOvr>
    <a:masterClrMapping/>
  </p:clrMapOvr>
  <p:transition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96208-963E-6FE2-C7B3-2280B7CBD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62BB5-6B1B-4F5C-C760-0D7374596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850" y="218616"/>
            <a:ext cx="4989629" cy="2747203"/>
          </a:xfrm>
        </p:spPr>
        <p:txBody>
          <a:bodyPr lIns="91440" tIns="45720" rIns="91440" bIns="45720" anchor="b"/>
          <a:lstStyle/>
          <a:p>
            <a:r>
              <a:rPr lang="it-IT" dirty="0" err="1"/>
              <a:t>Growth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7EBEE1D-E34B-5564-7830-944825C37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0514" y="3344771"/>
            <a:ext cx="6082306" cy="3237441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it-IT" sz="1200" dirty="0" err="1">
                <a:latin typeface="Century Gothic Bold"/>
                <a:cs typeface="Segoe UI"/>
              </a:rPr>
              <a:t>Phase</a:t>
            </a:r>
            <a:r>
              <a:rPr lang="it-IT" sz="1200" dirty="0">
                <a:latin typeface="Century Gothic Bold"/>
                <a:cs typeface="Segoe UI"/>
              </a:rPr>
              <a:t> 2 – </a:t>
            </a:r>
            <a:r>
              <a:rPr lang="it-IT" sz="1200" dirty="0" err="1">
                <a:latin typeface="Century Gothic Bold"/>
                <a:cs typeface="Segoe UI"/>
              </a:rPr>
              <a:t>Growth</a:t>
            </a:r>
            <a:r>
              <a:rPr lang="it-IT" sz="1200" dirty="0">
                <a:latin typeface="Century Gothic Bold"/>
                <a:cs typeface="Segoe UI"/>
              </a:rPr>
              <a:t> (12-24 </a:t>
            </a:r>
            <a:r>
              <a:rPr lang="it-IT" sz="1200" dirty="0" err="1">
                <a:latin typeface="Century Gothic Bold"/>
                <a:cs typeface="Segoe UI"/>
              </a:rPr>
              <a:t>months</a:t>
            </a:r>
            <a:r>
              <a:rPr lang="it-IT" sz="1200" dirty="0">
                <a:latin typeface="Century Gothic Bold"/>
                <a:cs typeface="Segoe UI"/>
              </a:rPr>
              <a:t>)</a:t>
            </a:r>
            <a:endParaRPr lang="it-IT" sz="1200">
              <a:solidFill>
                <a:srgbClr val="FFFFFF"/>
              </a:solidFill>
              <a:latin typeface="Century Gothic Bold"/>
              <a:cs typeface="Segoe UI"/>
            </a:endParaRPr>
          </a:p>
          <a:p>
            <a:endParaRPr lang="it-IT" sz="1200">
              <a:solidFill>
                <a:srgbClr val="FFFFFF"/>
              </a:solidFill>
              <a:latin typeface="Century Gothic Bold"/>
              <a:cs typeface="Segoe UI"/>
            </a:endParaRPr>
          </a:p>
          <a:p>
            <a:r>
              <a:rPr lang="it-IT" sz="1200" dirty="0" err="1">
                <a:solidFill>
                  <a:srgbClr val="FFFFFF"/>
                </a:solidFill>
                <a:latin typeface="Daytona Pro Light"/>
                <a:cs typeface="Segoe UI"/>
              </a:rPr>
              <a:t>Objective</a:t>
            </a:r>
            <a:r>
              <a:rPr lang="it-IT" sz="1200" dirty="0">
                <a:solidFill>
                  <a:srgbClr val="FFFFFF"/>
                </a:solidFill>
                <a:latin typeface="Daytona Pro Light"/>
                <a:cs typeface="Segoe UI"/>
              </a:rPr>
              <a:t>: consolidate the </a:t>
            </a:r>
            <a:r>
              <a:rPr lang="it-IT" sz="1200" dirty="0" err="1">
                <a:solidFill>
                  <a:srgbClr val="FFFFFF"/>
                </a:solidFill>
                <a:latin typeface="Daytona Pro Light"/>
                <a:cs typeface="Segoe UI"/>
              </a:rPr>
              <a:t>number</a:t>
            </a:r>
            <a:r>
              <a:rPr lang="it-IT" sz="1200" dirty="0">
                <a:solidFill>
                  <a:srgbClr val="FFFFFF"/>
                </a:solidFill>
                <a:latin typeface="Daytona Pro Light"/>
                <a:cs typeface="Segoe UI"/>
              </a:rPr>
              <a:t> of sponsors and </a:t>
            </a:r>
            <a:r>
              <a:rPr lang="it-IT" sz="1200" dirty="0" err="1">
                <a:solidFill>
                  <a:srgbClr val="FFFFFF"/>
                </a:solidFill>
                <a:latin typeface="Daytona Pro Light"/>
                <a:cs typeface="Segoe UI"/>
              </a:rPr>
              <a:t>increase</a:t>
            </a:r>
            <a:r>
              <a:rPr lang="it-IT" sz="1200" dirty="0">
                <a:solidFill>
                  <a:srgbClr val="FFFFFF"/>
                </a:solidFill>
                <a:latin typeface="Daytona Pro Light"/>
                <a:cs typeface="Segoe UI"/>
              </a:rPr>
              <a:t> the ROI.</a:t>
            </a:r>
          </a:p>
          <a:p>
            <a:pPr algn="l"/>
            <a:endParaRPr lang="it-IT" sz="1200">
              <a:solidFill>
                <a:srgbClr val="FFFFFF"/>
              </a:solidFill>
              <a:latin typeface="Daytona Pro Light"/>
              <a:cs typeface="Segoe UI"/>
            </a:endParaRPr>
          </a:p>
          <a:p>
            <a:pPr marL="171450" indent="-171450" algn="l">
              <a:buChar char="•"/>
            </a:pPr>
            <a:r>
              <a:rPr lang="it-IT" sz="1200" dirty="0">
                <a:solidFill>
                  <a:srgbClr val="FFFFFF"/>
                </a:solidFill>
                <a:latin typeface="Daytona Pro Light"/>
                <a:cs typeface="Segoe UI"/>
              </a:rPr>
              <a:t>Marketing costs </a:t>
            </a:r>
            <a:r>
              <a:rPr lang="it-IT" sz="1200" err="1">
                <a:solidFill>
                  <a:srgbClr val="FFFFFF"/>
                </a:solidFill>
                <a:latin typeface="Daytona Pro Light"/>
                <a:cs typeface="Segoe UI"/>
              </a:rPr>
              <a:t>decrease</a:t>
            </a:r>
            <a:r>
              <a:rPr lang="it-IT" sz="1200" dirty="0">
                <a:solidFill>
                  <a:srgbClr val="FFFFFF"/>
                </a:solidFill>
                <a:latin typeface="Daytona Pro Light"/>
                <a:cs typeface="Segoe UI"/>
              </a:rPr>
              <a:t> by 20%-30% thanks to </a:t>
            </a:r>
            <a:r>
              <a:rPr lang="it-IT" sz="1200" err="1">
                <a:solidFill>
                  <a:srgbClr val="FFFFFF"/>
                </a:solidFill>
                <a:latin typeface="Daytona Pro Light"/>
                <a:cs typeface="Segoe UI"/>
              </a:rPr>
              <a:t>organic</a:t>
            </a:r>
            <a:r>
              <a:rPr lang="it-IT" sz="1200" dirty="0">
                <a:solidFill>
                  <a:srgbClr val="FFFFFF"/>
                </a:solidFill>
                <a:latin typeface="Daytona Pro Light"/>
                <a:cs typeface="Segoe UI"/>
              </a:rPr>
              <a:t> </a:t>
            </a:r>
            <a:r>
              <a:rPr lang="it-IT" sz="1200" err="1">
                <a:solidFill>
                  <a:srgbClr val="FFFFFF"/>
                </a:solidFill>
                <a:latin typeface="Daytona Pro Light"/>
                <a:cs typeface="Segoe UI"/>
              </a:rPr>
              <a:t>growth</a:t>
            </a:r>
            <a:r>
              <a:rPr lang="it-IT" sz="1200" dirty="0">
                <a:solidFill>
                  <a:srgbClr val="FFFFFF"/>
                </a:solidFill>
                <a:latin typeface="Daytona Pro Light"/>
                <a:cs typeface="Segoe UI"/>
              </a:rPr>
              <a:t> and word of </a:t>
            </a:r>
            <a:r>
              <a:rPr lang="it-IT" sz="1200" err="1">
                <a:solidFill>
                  <a:srgbClr val="FFFFFF"/>
                </a:solidFill>
                <a:latin typeface="Daytona Pro Light"/>
                <a:cs typeface="Segoe UI"/>
              </a:rPr>
              <a:t>mouth</a:t>
            </a:r>
            <a:endParaRPr lang="it-IT" sz="1200" dirty="0" err="1">
              <a:solidFill>
                <a:srgbClr val="FFFFFF"/>
              </a:solidFill>
              <a:latin typeface="Daytona Pro Light"/>
              <a:cs typeface="Segoe UI"/>
            </a:endParaRPr>
          </a:p>
          <a:p>
            <a:pPr marL="171450" indent="-171450" algn="l">
              <a:buChar char="•"/>
            </a:pPr>
            <a:r>
              <a:rPr lang="it-IT" sz="1200" dirty="0" err="1">
                <a:solidFill>
                  <a:srgbClr val="FFFFFF"/>
                </a:solidFill>
                <a:ea typeface="+mn-lt"/>
                <a:cs typeface="+mn-lt"/>
              </a:rPr>
              <a:t>Earnings</a:t>
            </a:r>
            <a:r>
              <a:rPr lang="it-IT" sz="12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it-IT" sz="1200" dirty="0" err="1">
                <a:solidFill>
                  <a:srgbClr val="FFFFFF"/>
                </a:solidFill>
                <a:ea typeface="+mn-lt"/>
                <a:cs typeface="+mn-lt"/>
              </a:rPr>
              <a:t>increase</a:t>
            </a:r>
            <a:r>
              <a:rPr lang="it-IT" sz="1200" dirty="0">
                <a:solidFill>
                  <a:srgbClr val="FFFFFF"/>
                </a:solidFill>
                <a:ea typeface="+mn-lt"/>
                <a:cs typeface="+mn-lt"/>
              </a:rPr>
              <a:t> with more businesses </a:t>
            </a:r>
            <a:r>
              <a:rPr lang="it-IT" sz="1200" dirty="0" err="1">
                <a:solidFill>
                  <a:srgbClr val="FFFFFF"/>
                </a:solidFill>
                <a:ea typeface="+mn-lt"/>
                <a:cs typeface="+mn-lt"/>
              </a:rPr>
              <a:t>joining</a:t>
            </a:r>
            <a:r>
              <a:rPr lang="it-IT" sz="1200" dirty="0">
                <a:solidFill>
                  <a:srgbClr val="FFFFFF"/>
                </a:solidFill>
                <a:ea typeface="+mn-lt"/>
                <a:cs typeface="+mn-lt"/>
              </a:rPr>
              <a:t> in, more packages, events</a:t>
            </a:r>
            <a:endParaRPr lang="it-IT" sz="1200" dirty="0">
              <a:solidFill>
                <a:srgbClr val="FFFFFF"/>
              </a:solidFill>
              <a:latin typeface="Daytona Pro Light"/>
              <a:cs typeface="Segoe UI"/>
            </a:endParaRPr>
          </a:p>
          <a:p>
            <a:pPr marL="171450" indent="-171450" algn="l">
              <a:buChar char="•"/>
            </a:pPr>
            <a:r>
              <a:rPr lang="it-IT" sz="1200" dirty="0">
                <a:solidFill>
                  <a:srgbClr val="FFFFFF"/>
                </a:solidFill>
                <a:latin typeface="Daytona Pro Light"/>
                <a:cs typeface="Segoe UI"/>
              </a:rPr>
              <a:t>Break-even </a:t>
            </a:r>
            <a:r>
              <a:rPr lang="it-IT" sz="1200" dirty="0" err="1">
                <a:solidFill>
                  <a:srgbClr val="FFFFFF"/>
                </a:solidFill>
                <a:latin typeface="Daytona Pro Light"/>
                <a:cs typeface="Segoe UI"/>
              </a:rPr>
              <a:t>forcasted</a:t>
            </a:r>
            <a:r>
              <a:rPr lang="it-IT" sz="1200" dirty="0">
                <a:solidFill>
                  <a:srgbClr val="FFFFFF"/>
                </a:solidFill>
                <a:latin typeface="Daytona Pro Light"/>
                <a:cs typeface="Segoe UI"/>
              </a:rPr>
              <a:t> by </a:t>
            </a:r>
            <a:r>
              <a:rPr lang="it-IT" sz="1200" dirty="0" err="1">
                <a:solidFill>
                  <a:srgbClr val="FFFFFF"/>
                </a:solidFill>
                <a:latin typeface="Daytona Pro Light"/>
                <a:cs typeface="Segoe UI"/>
              </a:rPr>
              <a:t>month</a:t>
            </a:r>
            <a:r>
              <a:rPr lang="it-IT" sz="1200" dirty="0">
                <a:solidFill>
                  <a:srgbClr val="FFFFFF"/>
                </a:solidFill>
                <a:latin typeface="Daytona Pro Light"/>
                <a:cs typeface="Segoe UI"/>
              </a:rPr>
              <a:t> 18-24</a:t>
            </a:r>
          </a:p>
          <a:p>
            <a:endParaRPr lang="it-IT" sz="1200">
              <a:solidFill>
                <a:srgbClr val="FFFFFF"/>
              </a:solidFill>
              <a:latin typeface="Segoe UI"/>
              <a:cs typeface="Segoe UI"/>
            </a:endParaRPr>
          </a:p>
          <a:p>
            <a:endParaRPr lang="it-IT" sz="1200">
              <a:solidFill>
                <a:srgbClr val="000000"/>
              </a:solidFill>
              <a:latin typeface="Segoe UI"/>
              <a:cs typeface="Segoe UI"/>
            </a:endParaRPr>
          </a:p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84F63EC-01D1-F874-C526-EC4F59FD7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2B21C4A-A932-0E00-022B-366BB8C59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96627"/>
      </p:ext>
    </p:extLst>
  </p:cSld>
  <p:clrMapOvr>
    <a:masterClrMapping/>
  </p:clrMapOvr>
  <p:transition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E29E1-9D5E-408F-3DD6-67ACF65B0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4E1B03-F1F0-3E28-5B28-A8D5A406B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it-IT" dirty="0" err="1"/>
              <a:t>scalability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B4624C3-FE83-7A45-4D31-0F67784A15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2684" y="3294451"/>
            <a:ext cx="6906544" cy="3159879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it-IT" sz="1300" dirty="0">
                <a:latin typeface="Century Gothic Bold"/>
              </a:rPr>
              <a:t>Fase 3 – </a:t>
            </a:r>
            <a:r>
              <a:rPr lang="it-IT" sz="1300" dirty="0" err="1">
                <a:latin typeface="Century Gothic Bold"/>
              </a:rPr>
              <a:t>scalability</a:t>
            </a:r>
            <a:r>
              <a:rPr lang="it-IT" sz="1300" dirty="0">
                <a:latin typeface="Century Gothic Bold"/>
              </a:rPr>
              <a:t> (after 24 </a:t>
            </a:r>
            <a:r>
              <a:rPr lang="it-IT" sz="1300" dirty="0" err="1">
                <a:latin typeface="Century Gothic Bold"/>
              </a:rPr>
              <a:t>months</a:t>
            </a:r>
            <a:r>
              <a:rPr lang="it-IT" sz="1300" dirty="0">
                <a:latin typeface="Century Gothic Bold"/>
              </a:rPr>
              <a:t>)</a:t>
            </a:r>
          </a:p>
          <a:p>
            <a:endParaRPr lang="it-IT" sz="1200">
              <a:latin typeface="Century Gothic Bold"/>
            </a:endParaRPr>
          </a:p>
          <a:p>
            <a:r>
              <a:rPr lang="it-IT" sz="1400" dirty="0" err="1">
                <a:latin typeface="Daytona Pro Light"/>
              </a:rPr>
              <a:t>Objective</a:t>
            </a:r>
            <a:r>
              <a:rPr lang="it-IT" sz="1400" dirty="0">
                <a:latin typeface="Daytona Pro Light"/>
              </a:rPr>
              <a:t>: </a:t>
            </a:r>
            <a:r>
              <a:rPr lang="it-IT" sz="1400" dirty="0" err="1">
                <a:latin typeface="Daytona Pro Light"/>
              </a:rPr>
              <a:t>Marginal</a:t>
            </a:r>
            <a:r>
              <a:rPr lang="it-IT" sz="1400" dirty="0">
                <a:latin typeface="Daytona Pro Light"/>
              </a:rPr>
              <a:t> </a:t>
            </a:r>
            <a:r>
              <a:rPr lang="it-IT" sz="1400" dirty="0" err="1">
                <a:latin typeface="Daytona Pro Light"/>
              </a:rPr>
              <a:t>growth</a:t>
            </a:r>
            <a:r>
              <a:rPr lang="it-IT" sz="1400" dirty="0">
                <a:latin typeface="Daytona Pro Light"/>
              </a:rPr>
              <a:t> of technical costs, </a:t>
            </a:r>
            <a:r>
              <a:rPr lang="it-IT" sz="1400" dirty="0" err="1">
                <a:latin typeface="Daytona Pro Light"/>
              </a:rPr>
              <a:t>rapid</a:t>
            </a:r>
            <a:r>
              <a:rPr lang="it-IT" sz="1400" dirty="0">
                <a:latin typeface="Daytona Pro Light"/>
              </a:rPr>
              <a:t> </a:t>
            </a:r>
            <a:r>
              <a:rPr lang="it-IT" sz="1400" dirty="0" err="1">
                <a:latin typeface="Daytona Pro Light"/>
              </a:rPr>
              <a:t>growth</a:t>
            </a:r>
            <a:r>
              <a:rPr lang="it-IT" sz="1400" dirty="0">
                <a:latin typeface="Daytona Pro Light"/>
              </a:rPr>
              <a:t> in sponsors</a:t>
            </a:r>
          </a:p>
          <a:p>
            <a:pPr algn="l"/>
            <a:endParaRPr lang="it-IT" sz="1400">
              <a:latin typeface="Daytona Pro Light"/>
            </a:endParaRPr>
          </a:p>
          <a:p>
            <a:pPr marL="171450" indent="-171450" algn="l">
              <a:buChar char="•"/>
            </a:pPr>
            <a:r>
              <a:rPr lang="it-IT" sz="1400" dirty="0" err="1">
                <a:latin typeface="Daytona Pro Light"/>
              </a:rPr>
              <a:t>Earnings</a:t>
            </a:r>
            <a:r>
              <a:rPr lang="it-IT" sz="1400" dirty="0">
                <a:latin typeface="Daytona Pro Light"/>
              </a:rPr>
              <a:t> </a:t>
            </a:r>
            <a:r>
              <a:rPr lang="it-IT" sz="1400" dirty="0" err="1">
                <a:latin typeface="Daytona Pro Light"/>
              </a:rPr>
              <a:t>through</a:t>
            </a:r>
            <a:r>
              <a:rPr lang="it-IT" sz="1400" dirty="0">
                <a:latin typeface="Daytona Pro Light"/>
              </a:rPr>
              <a:t> </a:t>
            </a:r>
            <a:r>
              <a:rPr lang="it-IT" sz="1400" dirty="0" err="1">
                <a:latin typeface="Daytona Pro Light"/>
              </a:rPr>
              <a:t>local</a:t>
            </a:r>
            <a:r>
              <a:rPr lang="it-IT" sz="1400" dirty="0">
                <a:latin typeface="Daytona Pro Light"/>
              </a:rPr>
              <a:t> sponsors + premium features </a:t>
            </a:r>
            <a:r>
              <a:rPr lang="it-IT" sz="1400" dirty="0" err="1">
                <a:latin typeface="Daytona Pro Light"/>
              </a:rPr>
              <a:t>surpass</a:t>
            </a:r>
            <a:r>
              <a:rPr lang="it-IT" sz="1400" dirty="0">
                <a:latin typeface="Daytona Pro Light"/>
              </a:rPr>
              <a:t> technical costs + marketing</a:t>
            </a:r>
          </a:p>
          <a:p>
            <a:pPr marL="171450" indent="-171450" algn="l">
              <a:buChar char="•"/>
            </a:pPr>
            <a:r>
              <a:rPr lang="it-IT" sz="1400" dirty="0">
                <a:latin typeface="Daytona Pro Light"/>
              </a:rPr>
              <a:t>Positive profit </a:t>
            </a:r>
            <a:r>
              <a:rPr lang="it-IT" sz="1400" dirty="0" err="1">
                <a:latin typeface="Daytona Pro Light"/>
              </a:rPr>
              <a:t>margin</a:t>
            </a:r>
            <a:r>
              <a:rPr lang="it-IT" sz="1400" dirty="0">
                <a:latin typeface="Daytona Pro Light"/>
              </a:rPr>
              <a:t>, with the </a:t>
            </a:r>
            <a:r>
              <a:rPr lang="it-IT" sz="1400" dirty="0" err="1">
                <a:latin typeface="Daytona Pro Light"/>
              </a:rPr>
              <a:t>possibility</a:t>
            </a:r>
            <a:r>
              <a:rPr lang="it-IT" sz="1400" dirty="0">
                <a:latin typeface="Daytona Pro Light"/>
              </a:rPr>
              <a:t> to:</a:t>
            </a:r>
            <a:endParaRPr lang="it-IT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it-IT" sz="1400" dirty="0" err="1">
                <a:solidFill>
                  <a:srgbClr val="FFFFFF"/>
                </a:solidFill>
                <a:latin typeface="Daytona Pro Light"/>
              </a:rPr>
              <a:t>Expand</a:t>
            </a:r>
            <a:r>
              <a:rPr lang="it-IT" sz="1400" dirty="0">
                <a:solidFill>
                  <a:srgbClr val="FFFFFF"/>
                </a:solidFill>
                <a:latin typeface="Daytona Pro Light"/>
              </a:rPr>
              <a:t> </a:t>
            </a:r>
            <a:r>
              <a:rPr lang="it-IT" sz="1400" dirty="0" err="1">
                <a:solidFill>
                  <a:srgbClr val="FFFFFF"/>
                </a:solidFill>
                <a:latin typeface="Daytona Pro Light"/>
              </a:rPr>
              <a:t>geographically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it-IT" sz="1400" dirty="0" err="1">
                <a:solidFill>
                  <a:srgbClr val="FFFFFF"/>
                </a:solidFill>
                <a:latin typeface="Daytona Pro Light"/>
              </a:rPr>
              <a:t>Develop</a:t>
            </a:r>
            <a:r>
              <a:rPr lang="it-IT" sz="1400" dirty="0">
                <a:solidFill>
                  <a:srgbClr val="FFFFFF"/>
                </a:solidFill>
                <a:latin typeface="Daytona Pro Light"/>
              </a:rPr>
              <a:t> new app </a:t>
            </a:r>
            <a:r>
              <a:rPr lang="it-IT" sz="1400" dirty="0" err="1">
                <a:solidFill>
                  <a:srgbClr val="FFFFFF"/>
                </a:solidFill>
                <a:latin typeface="Daytona Pro Light"/>
              </a:rPr>
              <a:t>functionalities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it-IT" sz="1400" dirty="0" err="1">
                <a:solidFill>
                  <a:srgbClr val="FFFFFF"/>
                </a:solidFill>
                <a:latin typeface="Daytona Pro Light"/>
              </a:rPr>
              <a:t>Allow</a:t>
            </a:r>
            <a:r>
              <a:rPr lang="it-IT" sz="1400" dirty="0">
                <a:solidFill>
                  <a:srgbClr val="FFFFFF"/>
                </a:solidFill>
                <a:latin typeface="Daytona Pro Light"/>
              </a:rPr>
              <a:t> </a:t>
            </a:r>
            <a:r>
              <a:rPr lang="it-IT" sz="1400" dirty="0" err="1">
                <a:solidFill>
                  <a:srgbClr val="FFFFFF"/>
                </a:solidFill>
                <a:latin typeface="Daytona Pro Light"/>
              </a:rPr>
              <a:t>joining</a:t>
            </a:r>
            <a:r>
              <a:rPr lang="it-IT" sz="1400" dirty="0">
                <a:solidFill>
                  <a:srgbClr val="FFFFFF"/>
                </a:solidFill>
                <a:latin typeface="Daytona Pro Light"/>
              </a:rPr>
              <a:t> of more </a:t>
            </a:r>
            <a:r>
              <a:rPr lang="it-IT" sz="1400" dirty="0" err="1">
                <a:solidFill>
                  <a:srgbClr val="FFFFFF"/>
                </a:solidFill>
                <a:latin typeface="Daytona Pro Light"/>
              </a:rPr>
              <a:t>investors</a:t>
            </a:r>
            <a:r>
              <a:rPr lang="it-IT" sz="1400" dirty="0">
                <a:solidFill>
                  <a:srgbClr val="FFFFFF"/>
                </a:solidFill>
                <a:latin typeface="Daytona Pro Light"/>
              </a:rPr>
              <a:t> / </a:t>
            </a:r>
            <a:r>
              <a:rPr lang="it-IT" sz="1400" dirty="0" err="1">
                <a:solidFill>
                  <a:srgbClr val="FFFFFF"/>
                </a:solidFill>
                <a:latin typeface="Daytona Pro Light"/>
              </a:rPr>
              <a:t>strategic</a:t>
            </a:r>
            <a:r>
              <a:rPr lang="it-IT" sz="1400" dirty="0">
                <a:solidFill>
                  <a:srgbClr val="FFFFFF"/>
                </a:solidFill>
                <a:latin typeface="Daytona Pro Light"/>
              </a:rPr>
              <a:t> partners</a:t>
            </a:r>
            <a:endParaRPr lang="it-IT" sz="1400" dirty="0">
              <a:solidFill>
                <a:srgbClr val="FFFFFF"/>
              </a:solidFill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580F78D-1477-2505-1DEE-8D8011D1C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7C866DA-D958-5F19-F2BA-3BCF931BA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75196"/>
      </p:ext>
    </p:extLst>
  </p:cSld>
  <p:clrMapOvr>
    <a:masterClrMapping/>
  </p:clrMapOvr>
  <p:transition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1F47B-E0B4-0C7D-BCAE-542F28E40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4AD98E-7098-2EFB-6D15-C7DED0BD9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79" y="412709"/>
            <a:ext cx="6772421" cy="3329487"/>
          </a:xfrm>
        </p:spPr>
        <p:txBody>
          <a:bodyPr lIns="91440" tIns="45720" rIns="91440" bIns="45720" anchor="b"/>
          <a:lstStyle/>
          <a:p>
            <a:r>
              <a:rPr lang="it-IT" sz="3600" dirty="0" err="1"/>
              <a:t>Economic</a:t>
            </a:r>
            <a:r>
              <a:rPr lang="it-IT" sz="3600" dirty="0"/>
              <a:t> </a:t>
            </a:r>
            <a:r>
              <a:rPr lang="it-IT" sz="3600" dirty="0" err="1"/>
              <a:t>projection</a:t>
            </a:r>
            <a:r>
              <a:rPr lang="it-IT" sz="3600" dirty="0"/>
              <a:t> over 3 </a:t>
            </a:r>
            <a:r>
              <a:rPr lang="it-IT" sz="3600" dirty="0" err="1"/>
              <a:t>development</a:t>
            </a:r>
            <a:r>
              <a:rPr lang="it-IT" sz="3600" dirty="0"/>
              <a:t> </a:t>
            </a:r>
            <a:r>
              <a:rPr lang="it-IT" sz="3600" dirty="0" err="1"/>
              <a:t>phases</a:t>
            </a:r>
            <a:endParaRPr lang="en-US" dirty="0" err="1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9A5CF32-403B-BD38-6875-100C1D957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B77C936-7C8E-F6BE-41DE-443924BC0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D447C670-45E4-827D-230E-1A7AE00FED0B}"/>
              </a:ext>
            </a:extLst>
          </p:cNvPr>
          <p:cNvGraphicFramePr>
            <a:graphicFrameLocks noGrp="1"/>
          </p:cNvGraphicFramePr>
          <p:nvPr/>
        </p:nvGraphicFramePr>
        <p:xfrm>
          <a:off x="307963" y="3648168"/>
          <a:ext cx="9470209" cy="1581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7232">
                  <a:extLst>
                    <a:ext uri="{9D8B030D-6E8A-4147-A177-3AD203B41FA5}">
                      <a16:colId xmlns:a16="http://schemas.microsoft.com/office/drawing/2014/main" val="844561791"/>
                    </a:ext>
                  </a:extLst>
                </a:gridCol>
                <a:gridCol w="2487232">
                  <a:extLst>
                    <a:ext uri="{9D8B030D-6E8A-4147-A177-3AD203B41FA5}">
                      <a16:colId xmlns:a16="http://schemas.microsoft.com/office/drawing/2014/main" val="84702427"/>
                    </a:ext>
                  </a:extLst>
                </a:gridCol>
                <a:gridCol w="2487232">
                  <a:extLst>
                    <a:ext uri="{9D8B030D-6E8A-4147-A177-3AD203B41FA5}">
                      <a16:colId xmlns:a16="http://schemas.microsoft.com/office/drawing/2014/main" val="1961814584"/>
                    </a:ext>
                  </a:extLst>
                </a:gridCol>
                <a:gridCol w="2008513">
                  <a:extLst>
                    <a:ext uri="{9D8B030D-6E8A-4147-A177-3AD203B41FA5}">
                      <a16:colId xmlns:a16="http://schemas.microsoft.com/office/drawing/2014/main" val="1855526366"/>
                    </a:ext>
                  </a:extLst>
                </a:gridCol>
              </a:tblGrid>
              <a:tr h="395281">
                <a:tc>
                  <a:txBody>
                    <a:bodyPr/>
                    <a:lstStyle/>
                    <a:p>
                      <a:r>
                        <a:rPr lang="it-IT" dirty="0" err="1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Earnings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66933"/>
                  </a:ext>
                </a:extLst>
              </a:tr>
              <a:tr h="395281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it-IT" dirty="0" err="1"/>
                        <a:t>Launch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 b="0" i="0" u="none" strike="noStrike" noProof="0" dirty="0">
                          <a:latin typeface="Daytona Pro Light"/>
                        </a:rPr>
                        <a:t>$90.000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 b="0" i="0" u="none" strike="noStrike" noProof="0" dirty="0">
                          <a:solidFill>
                            <a:srgbClr val="000000"/>
                          </a:solidFill>
                          <a:latin typeface="Daytona Pro Light"/>
                        </a:rPr>
                        <a:t>$50.000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Loss -</a:t>
                      </a:r>
                      <a:r>
                        <a:rPr lang="it-IT" sz="1800" b="0" i="0" u="none" strike="noStrike" noProof="0" dirty="0">
                          <a:solidFill>
                            <a:srgbClr val="000000"/>
                          </a:solidFill>
                          <a:latin typeface="Daytona Pro Light"/>
                        </a:rPr>
                        <a:t>$40.000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761373"/>
                  </a:ext>
                </a:extLst>
              </a:tr>
              <a:tr h="395281">
                <a:tc>
                  <a:txBody>
                    <a:bodyPr/>
                    <a:lstStyle/>
                    <a:p>
                      <a:r>
                        <a:rPr lang="it-IT" dirty="0"/>
                        <a:t>2.  </a:t>
                      </a:r>
                      <a:r>
                        <a:rPr lang="it-IT" dirty="0" err="1"/>
                        <a:t>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 b="0" i="0" u="none" strike="noStrike" noProof="0" dirty="0">
                          <a:solidFill>
                            <a:srgbClr val="000000"/>
                          </a:solidFill>
                          <a:latin typeface="Daytona Pro Light"/>
                        </a:rPr>
                        <a:t>$70.000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 b="0" i="0" u="none" strike="noStrike" noProof="0" dirty="0">
                          <a:solidFill>
                            <a:srgbClr val="000000"/>
                          </a:solidFill>
                          <a:latin typeface="Daytona Pro Light"/>
                        </a:rPr>
                        <a:t>$90.000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Break-even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075705"/>
                  </a:ext>
                </a:extLst>
              </a:tr>
              <a:tr h="395281">
                <a:tc>
                  <a:txBody>
                    <a:bodyPr/>
                    <a:lstStyle/>
                    <a:p>
                      <a:r>
                        <a:rPr lang="it-IT" dirty="0"/>
                        <a:t>3.  </a:t>
                      </a:r>
                      <a:r>
                        <a:rPr lang="it-IT" dirty="0" err="1"/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 b="0" i="0" u="none" strike="noStrike" noProof="0" dirty="0">
                          <a:solidFill>
                            <a:srgbClr val="000000"/>
                          </a:solidFill>
                          <a:latin typeface="Daytona Pro Light"/>
                        </a:rPr>
                        <a:t>$60.000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800" b="0" i="0" u="none" strike="noStrike" noProof="0" dirty="0">
                          <a:solidFill>
                            <a:srgbClr val="000000"/>
                          </a:solidFill>
                          <a:latin typeface="Daytona Pro Light"/>
                        </a:rPr>
                        <a:t>$120.000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+Positive </a:t>
                      </a:r>
                      <a:r>
                        <a:rPr lang="it-IT" dirty="0" err="1"/>
                        <a:t>margin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73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700870"/>
      </p:ext>
    </p:extLst>
  </p:cSld>
  <p:clrMapOvr>
    <a:masterClrMapping/>
  </p:clrMapOvr>
  <p:transition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E8F5D34E-F679-45F4-BFC9-B9B401E5F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49" y="527542"/>
            <a:ext cx="6922876" cy="687834"/>
          </a:xfrm>
        </p:spPr>
        <p:txBody>
          <a:bodyPr lIns="91440" tIns="45720" rIns="91440" bIns="45720" anchor="t"/>
          <a:lstStyle/>
          <a:p>
            <a:r>
              <a:rPr lang="en-US" dirty="0"/>
              <a:t>WP</a:t>
            </a:r>
          </a:p>
        </p:txBody>
      </p:sp>
      <p:graphicFrame>
        <p:nvGraphicFramePr>
          <p:cNvPr id="40" name="Content Placeholder 39">
            <a:extLst>
              <a:ext uri="{FF2B5EF4-FFF2-40B4-BE49-F238E27FC236}">
                <a16:creationId xmlns:a16="http://schemas.microsoft.com/office/drawing/2014/main" id="{C4173BE0-AA34-4982-97CE-4DE4B553BD2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379653282"/>
              </p:ext>
            </p:extLst>
          </p:nvPr>
        </p:nvGraphicFramePr>
        <p:xfrm>
          <a:off x="693738" y="1128713"/>
          <a:ext cx="7860850" cy="444661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987659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2968121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  <a:gridCol w="1533977">
                  <a:extLst>
                    <a:ext uri="{9D8B030D-6E8A-4147-A177-3AD203B41FA5}">
                      <a16:colId xmlns:a16="http://schemas.microsoft.com/office/drawing/2014/main" val="3308918160"/>
                    </a:ext>
                  </a:extLst>
                </a:gridCol>
                <a:gridCol w="1371093">
                  <a:extLst>
                    <a:ext uri="{9D8B030D-6E8A-4147-A177-3AD203B41FA5}">
                      <a16:colId xmlns:a16="http://schemas.microsoft.com/office/drawing/2014/main" val="4196314429"/>
                    </a:ext>
                  </a:extLst>
                </a:gridCol>
              </a:tblGrid>
              <a:tr h="571840">
                <a:tc>
                  <a:txBody>
                    <a:bodyPr/>
                    <a:lstStyle/>
                    <a:p>
                      <a:pPr algn="l"/>
                      <a:r>
                        <a:rPr lang="en-US" sz="2000" cap="all" spc="4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WP 1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MVP creation, beta testing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Start of activities: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0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month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end of activities: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0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Month 6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353995">
                <a:tc gridSpan="4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Analysis of the state of the art, creation of initial product and initial testing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84003"/>
                  </a:ext>
                </a:extLst>
              </a:tr>
              <a:tr h="267765">
                <a:tc gridSpan="4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Month/Worker: </a:t>
                      </a:r>
                      <a:r>
                        <a:rPr lang="en-US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Daytona Pro Light"/>
                        </a:rPr>
                        <a:t>6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.   Months/Project Worker: 0.   Months/Total: 6.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756459"/>
                  </a:ext>
                </a:extLst>
              </a:tr>
              <a:tr h="272304">
                <a:tc gridSpan="4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Objectives: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Analyze the state of the art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Create a MVP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Gather feedback and adjust the MVP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75269"/>
                  </a:ext>
                </a:extLst>
              </a:tr>
              <a:tr h="626298">
                <a:tc gridSpan="4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cap="all" spc="200" baseline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General description of the work package: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000" b="0" i="0" u="none" strike="noStrike" cap="all" spc="200" baseline="0" noProof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The activities of the first work package revolve around establishing proper initial feasibility and development of a base application.</a:t>
                      </a:r>
                      <a:endParaRPr lang="en-US" dirty="0">
                        <a:latin typeface="Calibri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227705"/>
                  </a:ext>
                </a:extLst>
              </a:tr>
              <a:tr h="1797204">
                <a:tc gridSpan="4">
                  <a:txBody>
                    <a:bodyPr/>
                    <a:lstStyle/>
                    <a:p>
                      <a:pPr lvl="0" algn="l" rtl="0">
                        <a:buFont typeface="Arial" panose="020B0604020202020204" pitchFamily="34" charset="0"/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Activities: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State of the art: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Research what the competition may be producing and </a:t>
                      </a:r>
                      <a:r>
                        <a:rPr lang="en-US" sz="1200" b="0" dirty="0" err="1">
                          <a:solidFill>
                            <a:schemeClr val="bg1"/>
                          </a:solidFill>
                          <a:effectLst/>
                        </a:rPr>
                        <a:t>enstablish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 the proper niche to target for the application's success.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Creation of an MVP: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Create a baseline application for initial feedback gathering and core feature showcase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Beta testing and adjustment of the product: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Gather user feedback and adjust features and overall polish of the application as the beta phase progresses.</a:t>
                      </a:r>
                      <a:endParaRPr lang="en-US" sz="1200" b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114081"/>
                  </a:ext>
                </a:extLst>
              </a:tr>
            </a:tbl>
          </a:graphicData>
        </a:graphic>
      </p:graphicFrame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EB3167CB-A6C4-4DEF-86D2-0EE698CF0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705E33BA-D532-4BFC-985F-6257C8C95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5916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F5C37-80FE-EA67-576E-E3F37B529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1E64D622-CB96-FA8E-C9B7-2BE53F7F5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49" y="527542"/>
            <a:ext cx="6922876" cy="687834"/>
          </a:xfrm>
        </p:spPr>
        <p:txBody>
          <a:bodyPr lIns="91440" tIns="45720" rIns="91440" bIns="45720" anchor="t"/>
          <a:lstStyle/>
          <a:p>
            <a:r>
              <a:rPr lang="en-US" dirty="0"/>
              <a:t>WP</a:t>
            </a:r>
          </a:p>
        </p:txBody>
      </p:sp>
      <p:graphicFrame>
        <p:nvGraphicFramePr>
          <p:cNvPr id="40" name="Content Placeholder 39">
            <a:extLst>
              <a:ext uri="{FF2B5EF4-FFF2-40B4-BE49-F238E27FC236}">
                <a16:creationId xmlns:a16="http://schemas.microsoft.com/office/drawing/2014/main" id="{048D603C-DDEB-C06B-DD30-92F7CFAEB937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487805104"/>
              </p:ext>
            </p:extLst>
          </p:nvPr>
        </p:nvGraphicFramePr>
        <p:xfrm>
          <a:off x="693738" y="1128713"/>
          <a:ext cx="7860864" cy="428726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987659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5873205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</a:tblGrid>
              <a:tr h="571840">
                <a:tc>
                  <a:txBody>
                    <a:bodyPr/>
                    <a:lstStyle/>
                    <a:p>
                      <a:pPr algn="l"/>
                      <a:r>
                        <a:rPr lang="en-US" sz="2000" cap="all" spc="4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WP 1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Deliverables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621760">
                <a:tc gridSpan="2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D1.1: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 Report on the state of the art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D1.2: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 MVP application and overall base system, to be used in future development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D1.3: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Polished application, ready for launch to the general public and ready with most features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84003"/>
                  </a:ext>
                </a:extLst>
              </a:tr>
              <a:tr h="626298">
                <a:tc gridSpan="2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Control points: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P1.1: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Research results in a concise report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  <a:t>P1.2: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  <a:t>Application code and documentation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75269"/>
                  </a:ext>
                </a:extLst>
              </a:tr>
              <a:tr h="544607">
                <a:tc gridSpan="2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Total costs $24.000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867358"/>
                  </a:ext>
                </a:extLst>
              </a:tr>
              <a:tr h="1524900">
                <a:tc gridSpan="2">
                  <a:txBody>
                    <a:bodyPr/>
                    <a:lstStyle/>
                    <a:p>
                      <a:pPr lvl="0" algn="l" rtl="0">
                        <a:buFont typeface="Arial" panose="020B0604020202020204" pitchFamily="34" charset="0"/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Hired workers:</a:t>
                      </a:r>
                    </a:p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N. 1 Full stack senior DevOps/ML developer: Cost 24000$, Months/worker: 6</a:t>
                      </a:r>
                      <a:endParaRPr lang="en-US" sz="1200" b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267748"/>
                  </a:ext>
                </a:extLst>
              </a:tr>
            </a:tbl>
          </a:graphicData>
        </a:graphic>
      </p:graphicFrame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13FE403A-75EA-A308-E15D-91B8FD3E1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758293A8-6E47-368D-4A67-97D3EF3DE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3540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43CDB-C9F9-C25B-CFB1-7106E7729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6F6295B1-F97B-7C11-0664-BBF67D127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49" y="527542"/>
            <a:ext cx="6922876" cy="687834"/>
          </a:xfrm>
        </p:spPr>
        <p:txBody>
          <a:bodyPr lIns="91440" tIns="45720" rIns="91440" bIns="45720" anchor="t"/>
          <a:lstStyle/>
          <a:p>
            <a:r>
              <a:rPr lang="en-US" dirty="0"/>
              <a:t>WP</a:t>
            </a:r>
          </a:p>
        </p:txBody>
      </p:sp>
      <p:graphicFrame>
        <p:nvGraphicFramePr>
          <p:cNvPr id="40" name="Content Placeholder 39">
            <a:extLst>
              <a:ext uri="{FF2B5EF4-FFF2-40B4-BE49-F238E27FC236}">
                <a16:creationId xmlns:a16="http://schemas.microsoft.com/office/drawing/2014/main" id="{D3AD5D5B-4138-E158-85B7-D58ED3DF7DE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770630309"/>
              </p:ext>
            </p:extLst>
          </p:nvPr>
        </p:nvGraphicFramePr>
        <p:xfrm>
          <a:off x="688931" y="1127342"/>
          <a:ext cx="7865293" cy="153619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281613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90352593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773603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6602519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04570482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426393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43548843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82018509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61391077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9605450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4216544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619435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8176403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9455935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24550447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56304710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052647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4244274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n-US" sz="2000" cap="all" spc="4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WP 1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6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t1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t2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t3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600" b="0" cap="all" spc="200" baseline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t4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t5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600" b="0" cap="all" spc="200" baseline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t6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600" b="0" cap="all" spc="200" baseline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600" b="0" cap="all" spc="200" baseline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Activity 1.1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084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Daytona Pro Light"/>
                        </a:rPr>
                        <a:t>Activity 1.2</a:t>
                      </a:r>
                      <a:endParaRPr lang="en-US" sz="1200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7564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Daytona Pro Light"/>
                        </a:rPr>
                        <a:t>Activity 1.3</a:t>
                      </a:r>
                      <a:endParaRPr lang="en-US" sz="1200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575269"/>
                  </a:ext>
                </a:extLst>
              </a:tr>
            </a:tbl>
          </a:graphicData>
        </a:graphic>
      </p:graphicFrame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C269F2F2-21FF-7DBD-3CFE-8F7544E4A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ACE7AA56-28C6-7B22-143E-110DD874F1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406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0AB88-B1D0-04D7-EE30-F89E5116C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38F427D5-2AFB-4E33-978B-1EF82071B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49" y="527542"/>
            <a:ext cx="6922876" cy="687834"/>
          </a:xfrm>
        </p:spPr>
        <p:txBody>
          <a:bodyPr lIns="91440" tIns="45720" rIns="91440" bIns="45720" anchor="t"/>
          <a:lstStyle/>
          <a:p>
            <a:r>
              <a:rPr lang="en-US" dirty="0"/>
              <a:t>WP</a:t>
            </a:r>
          </a:p>
        </p:txBody>
      </p:sp>
      <p:graphicFrame>
        <p:nvGraphicFramePr>
          <p:cNvPr id="40" name="Content Placeholder 39">
            <a:extLst>
              <a:ext uri="{FF2B5EF4-FFF2-40B4-BE49-F238E27FC236}">
                <a16:creationId xmlns:a16="http://schemas.microsoft.com/office/drawing/2014/main" id="{803376D2-E987-2C7B-CCAC-569D92B8A63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899300194"/>
              </p:ext>
            </p:extLst>
          </p:nvPr>
        </p:nvGraphicFramePr>
        <p:xfrm>
          <a:off x="693738" y="1128713"/>
          <a:ext cx="7860864" cy="389142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987659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5873205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</a:tblGrid>
              <a:tr h="571840">
                <a:tc>
                  <a:txBody>
                    <a:bodyPr/>
                    <a:lstStyle/>
                    <a:p>
                      <a:pPr algn="l"/>
                      <a:r>
                        <a:rPr lang="en-US" sz="2000" cap="all" spc="4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WP 1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b="0" cap="all" spc="200" baseline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621760">
                <a:tc gridSpan="2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Equipment: -</a:t>
                      </a:r>
                    </a:p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84003"/>
                  </a:ext>
                </a:extLst>
              </a:tr>
              <a:tr h="272304">
                <a:tc gridSpan="2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Materials and their use in the WP: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75269"/>
                  </a:ext>
                </a:extLst>
              </a:tr>
              <a:tr h="626298">
                <a:tc gridSpan="2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cap="all" spc="200" baseline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227705"/>
                  </a:ext>
                </a:extLst>
              </a:tr>
              <a:tr h="1175444">
                <a:tc gridSpan="2">
                  <a:txBody>
                    <a:bodyPr/>
                    <a:lstStyle/>
                    <a:p>
                      <a:pPr lvl="0" algn="l" rtl="0">
                        <a:buFont typeface="Arial" panose="020B0604020202020204" pitchFamily="34" charset="0"/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Project workers: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114081"/>
                  </a:ext>
                </a:extLst>
              </a:tr>
              <a:tr h="621760">
                <a:tc gridSpan="2">
                  <a:txBody>
                    <a:bodyPr/>
                    <a:lstStyle/>
                    <a:p>
                      <a:pPr marL="171450" lvl="0" indent="-171450" algn="l" rtl="0"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200" b="0" cap="all" spc="200" baseline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Technical competences:</a:t>
                      </a:r>
                      <a:br>
                        <a:rPr lang="en-US" sz="1200" b="0" cap="all" spc="200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000" b="0" i="0" u="none" strike="noStrike" cap="all" spc="200" baseline="0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use of Machine Learning, Python, React, Kubernetes, Git, </a:t>
                      </a:r>
                      <a:r>
                        <a:rPr lang="en-US" sz="1000" b="0" i="0" u="none" strike="noStrike" cap="all" spc="200" baseline="0" noProof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Node.Js</a:t>
                      </a:r>
                      <a:r>
                        <a:rPr lang="en-US" sz="1000" b="0" i="0" u="none" strike="noStrike" cap="all" spc="200" baseline="0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, </a:t>
                      </a:r>
                      <a:r>
                        <a:rPr lang="en-US" sz="1000" b="0" i="0" u="none" strike="noStrike" cap="all" spc="200" baseline="0" noProof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Javascript</a:t>
                      </a:r>
                      <a:r>
                        <a:rPr lang="en-US" sz="1000" b="0" i="0" u="none" strike="noStrike" cap="all" spc="200" baseline="0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, HTML, CSS.</a:t>
                      </a:r>
                      <a:endParaRPr lang="en-US" sz="1000" b="0" i="0" u="none" strike="noStrike" cap="all" spc="200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074008"/>
                  </a:ext>
                </a:extLst>
              </a:tr>
            </a:tbl>
          </a:graphicData>
        </a:graphic>
      </p:graphicFrame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338D12C4-3617-1CBD-C9CB-02AAC54CE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7E4EB600-2C3F-AB7F-608B-D337012CA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471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035EF-E4B6-5C07-3D4D-B2EBDE110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B34D2C8F-61EA-6B36-3182-23176407B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49" y="527542"/>
            <a:ext cx="6922876" cy="687834"/>
          </a:xfrm>
        </p:spPr>
        <p:txBody>
          <a:bodyPr lIns="91440" tIns="45720" rIns="91440" bIns="45720" anchor="t"/>
          <a:lstStyle/>
          <a:p>
            <a:r>
              <a:rPr lang="en-US" dirty="0"/>
              <a:t>WP</a:t>
            </a:r>
          </a:p>
        </p:txBody>
      </p:sp>
      <p:graphicFrame>
        <p:nvGraphicFramePr>
          <p:cNvPr id="40" name="Content Placeholder 39">
            <a:extLst>
              <a:ext uri="{FF2B5EF4-FFF2-40B4-BE49-F238E27FC236}">
                <a16:creationId xmlns:a16="http://schemas.microsoft.com/office/drawing/2014/main" id="{89028B1B-51B6-11D2-8D29-BDB9EE390E6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915481577"/>
              </p:ext>
            </p:extLst>
          </p:nvPr>
        </p:nvGraphicFramePr>
        <p:xfrm>
          <a:off x="693738" y="1128713"/>
          <a:ext cx="7860850" cy="444661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987659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2968121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  <a:gridCol w="1533977">
                  <a:extLst>
                    <a:ext uri="{9D8B030D-6E8A-4147-A177-3AD203B41FA5}">
                      <a16:colId xmlns:a16="http://schemas.microsoft.com/office/drawing/2014/main" val="3308918160"/>
                    </a:ext>
                  </a:extLst>
                </a:gridCol>
                <a:gridCol w="1371093">
                  <a:extLst>
                    <a:ext uri="{9D8B030D-6E8A-4147-A177-3AD203B41FA5}">
                      <a16:colId xmlns:a16="http://schemas.microsoft.com/office/drawing/2014/main" val="4196314429"/>
                    </a:ext>
                  </a:extLst>
                </a:gridCol>
              </a:tblGrid>
              <a:tr h="571840">
                <a:tc>
                  <a:txBody>
                    <a:bodyPr/>
                    <a:lstStyle/>
                    <a:p>
                      <a:pPr algn="l"/>
                      <a:r>
                        <a:rPr lang="en-US" sz="2000" cap="all" spc="4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WP 2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5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Launch, road to 100k users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Start of activities: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0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month 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end of activities: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0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Month 18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353995">
                <a:tc gridSpan="4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Launch of the product, advertisement campaigns, initial scaling, improving on feedback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84003"/>
                  </a:ext>
                </a:extLst>
              </a:tr>
              <a:tr h="267765">
                <a:tc gridSpan="4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Month/Worker: </a:t>
                      </a:r>
                      <a:r>
                        <a:rPr lang="en-US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Daytona Pro Light"/>
                        </a:rPr>
                        <a:t> 24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.   Months/Project Worker: 0.   Months/Total: 24.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756459"/>
                  </a:ext>
                </a:extLst>
              </a:tr>
              <a:tr h="272304">
                <a:tc gridSpan="4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Objectives: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Launch the application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Scale and improve upon feedback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Gather the first direct sponsors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75269"/>
                  </a:ext>
                </a:extLst>
              </a:tr>
              <a:tr h="626298">
                <a:tc gridSpan="4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cap="all" spc="200" baseline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General description of the work package: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000" b="0" i="0" u="none" strike="noStrike" cap="all" spc="200" baseline="0" noProof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The activities of the first work package revolve around establishing proper initial feasibility and development of a base application.</a:t>
                      </a:r>
                      <a:endParaRPr lang="en-US" dirty="0">
                        <a:latin typeface="Calibri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227705"/>
                  </a:ext>
                </a:extLst>
              </a:tr>
              <a:tr h="1797204">
                <a:tc gridSpan="4">
                  <a:txBody>
                    <a:bodyPr/>
                    <a:lstStyle/>
                    <a:p>
                      <a:pPr lvl="0" algn="l" rtl="0">
                        <a:buFont typeface="Arial" panose="020B0604020202020204" pitchFamily="34" charset="0"/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Activities: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en-US" sz="1200" b="1" i="0" u="none" strike="noStrike" noProof="0" dirty="0">
                          <a:solidFill>
                            <a:schemeClr val="bg1"/>
                          </a:solidFill>
                          <a:effectLst/>
                          <a:latin typeface="Daytona Pro Light"/>
                        </a:rPr>
                        <a:t>Launch the application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Launch the application </a:t>
                      </a:r>
                      <a:r>
                        <a:rPr lang="en-US" sz="1200" b="0" dirty="0" err="1">
                          <a:solidFill>
                            <a:schemeClr val="bg1"/>
                          </a:solidFill>
                          <a:effectLst/>
                        </a:rPr>
                        <a:t>s.t.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 it is available to the public and its promotional campaign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en-US" sz="1200" b="1" i="0" u="none" strike="noStrike" noProof="0" dirty="0">
                          <a:solidFill>
                            <a:schemeClr val="bg1"/>
                          </a:solidFill>
                          <a:effectLst/>
                          <a:latin typeface="Daytona Pro Light"/>
                        </a:rPr>
                        <a:t>Scale and improve upon feedback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Leverage caching to reduce API costs and polish the application/add features based on feedback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Gather the first direct sponsors: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Register the first customers among restaurants and hotels which directly want the app's visibility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114081"/>
                  </a:ext>
                </a:extLst>
              </a:tr>
            </a:tbl>
          </a:graphicData>
        </a:graphic>
      </p:graphicFrame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F785DC17-2039-1395-07EF-3A3F44661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DE078C3E-3EE8-5C00-AD8D-653C7629D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784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3C6C9-9DAE-17A0-006E-F5D5FFB0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289BBC14-AAB0-F9AE-D7AA-7BB0C10F1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49" y="527542"/>
            <a:ext cx="6922876" cy="687834"/>
          </a:xfrm>
        </p:spPr>
        <p:txBody>
          <a:bodyPr lIns="91440" tIns="45720" rIns="91440" bIns="45720" anchor="t"/>
          <a:lstStyle/>
          <a:p>
            <a:r>
              <a:rPr lang="en-US" dirty="0"/>
              <a:t>WP</a:t>
            </a:r>
          </a:p>
        </p:txBody>
      </p:sp>
      <p:graphicFrame>
        <p:nvGraphicFramePr>
          <p:cNvPr id="40" name="Content Placeholder 39">
            <a:extLst>
              <a:ext uri="{FF2B5EF4-FFF2-40B4-BE49-F238E27FC236}">
                <a16:creationId xmlns:a16="http://schemas.microsoft.com/office/drawing/2014/main" id="{00F73D47-FE06-44CC-5C42-396E210FEDC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539718691"/>
              </p:ext>
            </p:extLst>
          </p:nvPr>
        </p:nvGraphicFramePr>
        <p:xfrm>
          <a:off x="693738" y="1128713"/>
          <a:ext cx="7860864" cy="428726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987659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5873205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</a:tblGrid>
              <a:tr h="571840">
                <a:tc>
                  <a:txBody>
                    <a:bodyPr/>
                    <a:lstStyle/>
                    <a:p>
                      <a:pPr algn="l"/>
                      <a:r>
                        <a:rPr lang="en-US" sz="2000" cap="all" spc="4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WP 2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Deliverables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621760">
                <a:tc gridSpan="2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D2.1: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 Launch download reports and advertisement effectiveness reports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D2.2: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 Caching and API costs report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D2.3: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Earning Report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84003"/>
                  </a:ext>
                </a:extLst>
              </a:tr>
              <a:tr h="626298">
                <a:tc gridSpan="2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Control points: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P2.1: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Download and use statistics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  <a:t>P2.2: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  <a:t>Earning analysis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75269"/>
                  </a:ext>
                </a:extLst>
              </a:tr>
              <a:tr h="544607">
                <a:tc gridSpan="2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Workforce costs: $84000, Advertisement cost: $42000, Total Cost: $126000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867358"/>
                  </a:ext>
                </a:extLst>
              </a:tr>
              <a:tr h="1524900">
                <a:tc gridSpan="2">
                  <a:txBody>
                    <a:bodyPr/>
                    <a:lstStyle/>
                    <a:p>
                      <a:pPr lvl="0" algn="l" rtl="0">
                        <a:buFont typeface="Arial" panose="020B0604020202020204" pitchFamily="34" charset="0"/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Hired workers:</a:t>
                      </a:r>
                    </a:p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N. 1 Full stack senior DevOps/ML developer: Cost 48000$, Months/worker: 12</a:t>
                      </a:r>
                    </a:p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N. 1 Advertisement, PR specialist: Cost: 36000$, Months/worker: 12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267748"/>
                  </a:ext>
                </a:extLst>
              </a:tr>
            </a:tbl>
          </a:graphicData>
        </a:graphic>
      </p:graphicFrame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94EFCCC8-7165-A888-8B80-1549D5A07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44D3AF89-59D9-9C50-06CA-2F821E078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76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4762D-12E8-930A-6679-4DA182D2D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DD4F1A84-A69E-3D42-24B0-7C8A371E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49" y="527542"/>
            <a:ext cx="6922876" cy="687834"/>
          </a:xfrm>
        </p:spPr>
        <p:txBody>
          <a:bodyPr lIns="91440" tIns="45720" rIns="91440" bIns="45720" anchor="t"/>
          <a:lstStyle/>
          <a:p>
            <a:r>
              <a:rPr lang="en-US" dirty="0"/>
              <a:t>WP</a:t>
            </a:r>
          </a:p>
        </p:txBody>
      </p:sp>
      <p:graphicFrame>
        <p:nvGraphicFramePr>
          <p:cNvPr id="40" name="Content Placeholder 39">
            <a:extLst>
              <a:ext uri="{FF2B5EF4-FFF2-40B4-BE49-F238E27FC236}">
                <a16:creationId xmlns:a16="http://schemas.microsoft.com/office/drawing/2014/main" id="{7DF9D4DD-1F98-552E-10C5-971BEC0CA46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59250424"/>
              </p:ext>
            </p:extLst>
          </p:nvPr>
        </p:nvGraphicFramePr>
        <p:xfrm>
          <a:off x="688931" y="1127342"/>
          <a:ext cx="7865293" cy="153619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281613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90352593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773603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6602519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04570482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4263939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43548843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82018509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61391077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79605450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14216544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619435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8176403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89455935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24550447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56304710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0526479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4244274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n-US" sz="2000" cap="all" spc="4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WP 2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6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t1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t2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t3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600" b="0" cap="all" spc="200" baseline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t4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t5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600" b="0" cap="all" spc="200" baseline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t6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600" b="0" cap="all" spc="200" baseline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600" b="0" cap="all" spc="200" baseline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Activity 2.1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084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Daytona Pro Light"/>
                        </a:rPr>
                        <a:t>Activity 2.2</a:t>
                      </a:r>
                      <a:endParaRPr lang="en-US" sz="1200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7564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Daytona Pro Light"/>
                        </a:rPr>
                        <a:t>Activity 2.3</a:t>
                      </a:r>
                      <a:endParaRPr lang="en-US" sz="1200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75269"/>
                  </a:ext>
                </a:extLst>
              </a:tr>
            </a:tbl>
          </a:graphicData>
        </a:graphic>
      </p:graphicFrame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A75DC86D-3EBB-1CD4-1761-819A3ADC3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ADF82CC8-313C-60AB-BE5C-B0623E46B9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783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37475-E817-C390-1C24-69463292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342A26CC-3EEB-E905-A737-C2E561475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49" y="527542"/>
            <a:ext cx="6922876" cy="687834"/>
          </a:xfrm>
        </p:spPr>
        <p:txBody>
          <a:bodyPr lIns="91440" tIns="45720" rIns="91440" bIns="45720" anchor="t"/>
          <a:lstStyle/>
          <a:p>
            <a:r>
              <a:rPr lang="en-US" dirty="0"/>
              <a:t>WP</a:t>
            </a:r>
          </a:p>
        </p:txBody>
      </p:sp>
      <p:graphicFrame>
        <p:nvGraphicFramePr>
          <p:cNvPr id="40" name="Content Placeholder 39">
            <a:extLst>
              <a:ext uri="{FF2B5EF4-FFF2-40B4-BE49-F238E27FC236}">
                <a16:creationId xmlns:a16="http://schemas.microsoft.com/office/drawing/2014/main" id="{06DB66B9-B73B-8474-1840-AEEE1526B38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584278697"/>
              </p:ext>
            </p:extLst>
          </p:nvPr>
        </p:nvGraphicFramePr>
        <p:xfrm>
          <a:off x="693738" y="1128713"/>
          <a:ext cx="7860864" cy="389142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987659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5873205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</a:tblGrid>
              <a:tr h="571840">
                <a:tc>
                  <a:txBody>
                    <a:bodyPr/>
                    <a:lstStyle/>
                    <a:p>
                      <a:pPr algn="l"/>
                      <a:r>
                        <a:rPr lang="en-US" sz="2000" cap="all" spc="4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WP 2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b="0" cap="all" spc="200" baseline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621760">
                <a:tc gridSpan="2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Equipment: -</a:t>
                      </a:r>
                    </a:p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84003"/>
                  </a:ext>
                </a:extLst>
              </a:tr>
              <a:tr h="272304">
                <a:tc gridSpan="2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Materials and their use in the WP: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75269"/>
                  </a:ext>
                </a:extLst>
              </a:tr>
              <a:tr h="626298">
                <a:tc gridSpan="2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cap="all" spc="200" baseline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227705"/>
                  </a:ext>
                </a:extLst>
              </a:tr>
              <a:tr h="1175444">
                <a:tc gridSpan="2">
                  <a:txBody>
                    <a:bodyPr/>
                    <a:lstStyle/>
                    <a:p>
                      <a:pPr lvl="0" algn="l" rtl="0">
                        <a:buFont typeface="Arial" panose="020B0604020202020204" pitchFamily="34" charset="0"/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Project workers: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114081"/>
                  </a:ext>
                </a:extLst>
              </a:tr>
              <a:tr h="621760">
                <a:tc gridSpan="2">
                  <a:txBody>
                    <a:bodyPr/>
                    <a:lstStyle/>
                    <a:p>
                      <a:pPr marL="171450" lvl="0" indent="-171450" algn="l" rtl="0"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200" b="0" cap="all" spc="200" baseline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Technical competences:</a:t>
                      </a:r>
                      <a:br>
                        <a:rPr lang="en-US" sz="1200" b="0" cap="all" spc="200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000" b="0" i="0" u="none" strike="noStrike" cap="all" spc="200" baseline="0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use of Machine Learning, Python, React, Kubernetes, Git, </a:t>
                      </a:r>
                      <a:r>
                        <a:rPr lang="en-US" sz="1000" b="0" i="0" u="none" strike="noStrike" cap="all" spc="200" baseline="0" noProof="0" dirty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Node.Js</a:t>
                      </a:r>
                      <a:r>
                        <a:rPr lang="en-US" sz="1000" b="0" i="0" u="none" strike="noStrike" cap="all" spc="200" baseline="0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, </a:t>
                      </a:r>
                      <a:r>
                        <a:rPr lang="en-US" sz="1000" b="0" i="0" u="none" strike="noStrike" cap="all" spc="200" baseline="0" noProof="0" dirty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Javascript</a:t>
                      </a:r>
                      <a:r>
                        <a:rPr lang="en-US" sz="1000" b="0" i="0" u="none" strike="noStrike" cap="all" spc="200" baseline="0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, HTML, CSS, </a:t>
                      </a:r>
                      <a:r>
                        <a:rPr lang="en-US" sz="1000" b="0" i="0" u="none" strike="noStrike" cap="all" spc="200" baseline="0" noProof="0" dirty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adsense</a:t>
                      </a:r>
                      <a:r>
                        <a:rPr lang="en-US" sz="1000" b="0" i="0" u="none" strike="noStrike" cap="all" spc="200" baseline="0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, basic accounting, public relationship.</a:t>
                      </a:r>
                      <a:endParaRPr lang="en-US" sz="1000" b="0" i="0" u="none" strike="noStrike" cap="all" spc="200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074008"/>
                  </a:ext>
                </a:extLst>
              </a:tr>
            </a:tbl>
          </a:graphicData>
        </a:graphic>
      </p:graphicFrame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ABC8030F-9842-028C-B3C1-112FD346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8579B9BF-5053-4E31-8C8E-444FE8DAB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3970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80EFB-D20B-E673-7664-3259847FE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011102E9-DDA6-150B-31D0-9904EB04D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49" y="527542"/>
            <a:ext cx="6922876" cy="687834"/>
          </a:xfrm>
        </p:spPr>
        <p:txBody>
          <a:bodyPr lIns="91440" tIns="45720" rIns="91440" bIns="45720" anchor="t"/>
          <a:lstStyle/>
          <a:p>
            <a:r>
              <a:rPr lang="en-US" dirty="0"/>
              <a:t>WP</a:t>
            </a:r>
          </a:p>
        </p:txBody>
      </p:sp>
      <p:graphicFrame>
        <p:nvGraphicFramePr>
          <p:cNvPr id="40" name="Content Placeholder 39">
            <a:extLst>
              <a:ext uri="{FF2B5EF4-FFF2-40B4-BE49-F238E27FC236}">
                <a16:creationId xmlns:a16="http://schemas.microsoft.com/office/drawing/2014/main" id="{963974F0-ABAF-74DB-89DD-D3BE8A4A469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181401329"/>
              </p:ext>
            </p:extLst>
          </p:nvPr>
        </p:nvGraphicFramePr>
        <p:xfrm>
          <a:off x="693738" y="1128713"/>
          <a:ext cx="7860850" cy="444661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987659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2968121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  <a:gridCol w="1533977">
                  <a:extLst>
                    <a:ext uri="{9D8B030D-6E8A-4147-A177-3AD203B41FA5}">
                      <a16:colId xmlns:a16="http://schemas.microsoft.com/office/drawing/2014/main" val="3308918160"/>
                    </a:ext>
                  </a:extLst>
                </a:gridCol>
                <a:gridCol w="1371093">
                  <a:extLst>
                    <a:ext uri="{9D8B030D-6E8A-4147-A177-3AD203B41FA5}">
                      <a16:colId xmlns:a16="http://schemas.microsoft.com/office/drawing/2014/main" val="4196314429"/>
                    </a:ext>
                  </a:extLst>
                </a:gridCol>
              </a:tblGrid>
              <a:tr h="571840">
                <a:tc>
                  <a:txBody>
                    <a:bodyPr/>
                    <a:lstStyle/>
                    <a:p>
                      <a:pPr algn="l"/>
                      <a:r>
                        <a:rPr lang="en-US" sz="2000" cap="all" spc="4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WP 3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5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scalability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Start of activities: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0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month 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end of activities: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0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Month 24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353995">
                <a:tc gridSpan="4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Optimization of the product, 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84003"/>
                  </a:ext>
                </a:extLst>
              </a:tr>
              <a:tr h="267765">
                <a:tc gridSpan="4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Month/Worker: </a:t>
                      </a:r>
                      <a:r>
                        <a:rPr lang="en-US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Daytona Pro Light"/>
                        </a:rPr>
                        <a:t> 18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.   Months/Project Worker: 0.   Months/Total: 18.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756459"/>
                  </a:ext>
                </a:extLst>
              </a:tr>
              <a:tr h="272304">
                <a:tc gridSpan="4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Objectives: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Scale operations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Maintain the application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Enhance customer care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75269"/>
                  </a:ext>
                </a:extLst>
              </a:tr>
              <a:tr h="626298">
                <a:tc gridSpan="4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cap="all" spc="200" baseline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General description of the work package: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000" b="0" i="0" u="none" strike="noStrike" cap="all" spc="200" baseline="0" noProof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The activities of the first work package revolve around establishing proper initial feasibility and development of a base application.</a:t>
                      </a:r>
                      <a:endParaRPr lang="en-US" dirty="0">
                        <a:latin typeface="Calibri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227705"/>
                  </a:ext>
                </a:extLst>
              </a:tr>
              <a:tr h="1797204">
                <a:tc gridSpan="4">
                  <a:txBody>
                    <a:bodyPr/>
                    <a:lstStyle/>
                    <a:p>
                      <a:pPr lvl="0" algn="l" rtl="0">
                        <a:buFont typeface="Arial" panose="020B0604020202020204" pitchFamily="34" charset="0"/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Activities: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en-US" sz="1200" b="1" i="0" u="none" strike="noStrike" noProof="0" dirty="0">
                          <a:solidFill>
                            <a:schemeClr val="bg1"/>
                          </a:solidFill>
                          <a:effectLst/>
                          <a:latin typeface="Daytona Pro Light"/>
                        </a:rPr>
                        <a:t>Scale operations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Scale the application to meet the demand and reduce costs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Maintain the application: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Limited expertise required to maintain the application and manage scaling</a:t>
                      </a:r>
                    </a:p>
                    <a:p>
                      <a:pPr marL="228600" lvl="0" indent="-228600" algn="l">
                        <a:buAutoNum type="arabicPeriod"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Enhance customer care: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Provide a dedicated person for the growing userbase, capable of helping the advertisement expert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114081"/>
                  </a:ext>
                </a:extLst>
              </a:tr>
            </a:tbl>
          </a:graphicData>
        </a:graphic>
      </p:graphicFrame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2D7A3659-CD8D-CA61-A806-677000169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CA4B9839-A3ED-7DF4-A172-B3ED6A923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068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D988C-56D9-6CB4-640B-C9D294973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Content Placeholder 39">
            <a:extLst>
              <a:ext uri="{FF2B5EF4-FFF2-40B4-BE49-F238E27FC236}">
                <a16:creationId xmlns:a16="http://schemas.microsoft.com/office/drawing/2014/main" id="{67CC6B90-6A31-7079-C7A2-B1361500F79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572385379"/>
              </p:ext>
            </p:extLst>
          </p:nvPr>
        </p:nvGraphicFramePr>
        <p:xfrm>
          <a:off x="693738" y="1128713"/>
          <a:ext cx="7860864" cy="428726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987659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5873205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</a:tblGrid>
              <a:tr h="571840">
                <a:tc>
                  <a:txBody>
                    <a:bodyPr/>
                    <a:lstStyle/>
                    <a:p>
                      <a:pPr algn="l"/>
                      <a:r>
                        <a:rPr lang="en-US" sz="2000" cap="all" spc="4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WP 3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Deliverables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621760">
                <a:tc gridSpan="2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D3.1: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 Scaling report and economy of scale in API costs</a:t>
                      </a:r>
                      <a:endParaRPr lang="en-US" dirty="0"/>
                    </a:p>
                    <a:p>
                      <a:pPr lvl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D3.2: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 Application vulnerability and maintenance report</a:t>
                      </a:r>
                      <a:endParaRPr lang="en-US" dirty="0"/>
                    </a:p>
                    <a:p>
                      <a:pPr lvl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D3.3: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Customer reviews summary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84003"/>
                  </a:ext>
                </a:extLst>
              </a:tr>
              <a:tr h="626298">
                <a:tc gridSpan="2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Control points: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P3.1: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Earning Analysis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  <a:t>P3.3: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  <a:t>Average rating on the web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75269"/>
                  </a:ext>
                </a:extLst>
              </a:tr>
              <a:tr h="544607">
                <a:tc gridSpan="2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Workforce costs: $56000, Advertisement cost: $24000, Total Cost: $80000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867358"/>
                  </a:ext>
                </a:extLst>
              </a:tr>
              <a:tr h="1524900">
                <a:tc gridSpan="2">
                  <a:txBody>
                    <a:bodyPr/>
                    <a:lstStyle/>
                    <a:p>
                      <a:pPr lvl="0" algn="l" rtl="0">
                        <a:buFont typeface="Arial" panose="020B0604020202020204" pitchFamily="34" charset="0"/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Hired workers:</a:t>
                      </a:r>
                    </a:p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N. 1 Full stack senior DevOps/ML developer: Cost 24000$, Months/worker: 6</a:t>
                      </a:r>
                    </a:p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N. 1 Advertisement, PR specialist: Cost: 18000$, Months/worker: 6</a:t>
                      </a:r>
                    </a:p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N. 1 Customer care agent: Cost: 14000$, Months/worker: 6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267748"/>
                  </a:ext>
                </a:extLst>
              </a:tr>
            </a:tbl>
          </a:graphicData>
        </a:graphic>
      </p:graphicFrame>
      <p:sp>
        <p:nvSpPr>
          <p:cNvPr id="22" name="Title 21">
            <a:extLst>
              <a:ext uri="{FF2B5EF4-FFF2-40B4-BE49-F238E27FC236}">
                <a16:creationId xmlns:a16="http://schemas.microsoft.com/office/drawing/2014/main" id="{F0B143F2-1CC4-A427-4FB6-315A6AA25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49" y="527542"/>
            <a:ext cx="6922876" cy="687834"/>
          </a:xfrm>
        </p:spPr>
        <p:txBody>
          <a:bodyPr lIns="91440" tIns="45720" rIns="91440" bIns="45720" anchor="t"/>
          <a:lstStyle/>
          <a:p>
            <a:r>
              <a:rPr lang="en-US" dirty="0"/>
              <a:t>WP</a:t>
            </a:r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AAF5B1AE-2717-DB3F-164C-FACDEF0D9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0E515FE7-C3D8-AF91-A4B8-069CB6FA1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306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9880E-BF7D-D313-22E4-BD3DB7AB3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3A5CA27A-4515-43EC-0B26-D38392B88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49" y="527542"/>
            <a:ext cx="6922876" cy="687834"/>
          </a:xfrm>
        </p:spPr>
        <p:txBody>
          <a:bodyPr lIns="91440" tIns="45720" rIns="91440" bIns="45720" anchor="t"/>
          <a:lstStyle/>
          <a:p>
            <a:r>
              <a:rPr lang="en-US" dirty="0"/>
              <a:t>WP</a:t>
            </a:r>
          </a:p>
        </p:txBody>
      </p:sp>
      <p:graphicFrame>
        <p:nvGraphicFramePr>
          <p:cNvPr id="40" name="Content Placeholder 39">
            <a:extLst>
              <a:ext uri="{FF2B5EF4-FFF2-40B4-BE49-F238E27FC236}">
                <a16:creationId xmlns:a16="http://schemas.microsoft.com/office/drawing/2014/main" id="{4BB818C3-635C-418A-AD79-522AFF6A080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871249738"/>
              </p:ext>
            </p:extLst>
          </p:nvPr>
        </p:nvGraphicFramePr>
        <p:xfrm>
          <a:off x="688931" y="1127342"/>
          <a:ext cx="3476173" cy="153619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281613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90352593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9773603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6602519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04570482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14263939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n-US" sz="2000" cap="all" spc="4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WP 3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6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t7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grid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cap="all" spc="2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t8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Activity 2.1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84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Daytona Pro Light"/>
                        </a:rPr>
                        <a:t>Activity 2.2</a:t>
                      </a:r>
                      <a:endParaRPr lang="en-US" sz="1200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7564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Daytona Pro Light"/>
                        </a:rPr>
                        <a:t>Activity 2.3</a:t>
                      </a:r>
                      <a:endParaRPr lang="en-US" sz="1200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75269"/>
                  </a:ext>
                </a:extLst>
              </a:tr>
            </a:tbl>
          </a:graphicData>
        </a:graphic>
      </p:graphicFrame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349240B8-F1C6-9F70-C170-837B8E971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ECCD6C74-17A7-6BFB-8A8A-804EB03D8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7895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D4BBD-DBCF-0C80-9A47-9A1838C37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4EB3FEE9-5A50-0E2E-E9F5-1A63E277B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49" y="527542"/>
            <a:ext cx="6922876" cy="687834"/>
          </a:xfrm>
        </p:spPr>
        <p:txBody>
          <a:bodyPr lIns="91440" tIns="45720" rIns="91440" bIns="45720" anchor="t"/>
          <a:lstStyle/>
          <a:p>
            <a:r>
              <a:rPr lang="en-US" dirty="0"/>
              <a:t>WP</a:t>
            </a:r>
          </a:p>
        </p:txBody>
      </p:sp>
      <p:graphicFrame>
        <p:nvGraphicFramePr>
          <p:cNvPr id="40" name="Content Placeholder 39">
            <a:extLst>
              <a:ext uri="{FF2B5EF4-FFF2-40B4-BE49-F238E27FC236}">
                <a16:creationId xmlns:a16="http://schemas.microsoft.com/office/drawing/2014/main" id="{B866EE38-4155-51D1-F901-B94BD77D13D7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709209210"/>
              </p:ext>
            </p:extLst>
          </p:nvPr>
        </p:nvGraphicFramePr>
        <p:xfrm>
          <a:off x="693738" y="1128713"/>
          <a:ext cx="7860864" cy="389142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987659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5873205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</a:tblGrid>
              <a:tr h="571840">
                <a:tc>
                  <a:txBody>
                    <a:bodyPr/>
                    <a:lstStyle/>
                    <a:p>
                      <a:pPr algn="l"/>
                      <a:r>
                        <a:rPr lang="en-US" sz="2000" cap="all" spc="400" baseline="0" dirty="0">
                          <a:solidFill>
                            <a:schemeClr val="accent6"/>
                          </a:solidFill>
                          <a:latin typeface="+mj-lt"/>
                        </a:rPr>
                        <a:t>WP 3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b="0" cap="all" spc="200" baseline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621760">
                <a:tc gridSpan="2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Equipment: -</a:t>
                      </a:r>
                    </a:p>
                    <a:p>
                      <a:pPr lvl="0" algn="l"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84003"/>
                  </a:ext>
                </a:extLst>
              </a:tr>
              <a:tr h="272304">
                <a:tc gridSpan="2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Materials and their use in the WP: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75269"/>
                  </a:ext>
                </a:extLst>
              </a:tr>
              <a:tr h="626298">
                <a:tc gridSpan="2">
                  <a:txBody>
                    <a:bodyPr/>
                    <a:lstStyle/>
                    <a:p>
                      <a:pPr lvl="0" algn="l" rtl="0">
                        <a:buNone/>
                      </a:pPr>
                      <a:r>
                        <a:rPr lang="en-US" sz="1200" b="0" cap="all" spc="200" baseline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227705"/>
                  </a:ext>
                </a:extLst>
              </a:tr>
              <a:tr h="1175444">
                <a:tc gridSpan="2">
                  <a:txBody>
                    <a:bodyPr/>
                    <a:lstStyle/>
                    <a:p>
                      <a:pPr lvl="0" algn="l" rtl="0">
                        <a:buFont typeface="Arial" panose="020B0604020202020204" pitchFamily="34" charset="0"/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Project workers:</a:t>
                      </a:r>
                      <a:br>
                        <a:rPr lang="en-US" sz="12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0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114081"/>
                  </a:ext>
                </a:extLst>
              </a:tr>
              <a:tr h="621760">
                <a:tc gridSpan="2">
                  <a:txBody>
                    <a:bodyPr/>
                    <a:lstStyle/>
                    <a:p>
                      <a:pPr marL="171450" lvl="0" indent="-171450" algn="l" rtl="0"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200" b="0" cap="all" spc="200" baseline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Technical competences:</a:t>
                      </a:r>
                      <a:br>
                        <a:rPr lang="en-US" sz="1200" b="0" cap="all" spc="200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000" b="0" i="0" u="none" strike="noStrike" cap="all" spc="200" baseline="0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use of Machine Learning, Python, React, Kubernetes, Git, </a:t>
                      </a:r>
                      <a:r>
                        <a:rPr lang="en-US" sz="1000" b="0" i="0" u="none" strike="noStrike" cap="all" spc="200" baseline="0" noProof="0" dirty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Node.Js</a:t>
                      </a:r>
                      <a:r>
                        <a:rPr lang="en-US" sz="1000" b="0" i="0" u="none" strike="noStrike" cap="all" spc="200" baseline="0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, </a:t>
                      </a:r>
                      <a:r>
                        <a:rPr lang="en-US" sz="1000" b="0" i="0" u="none" strike="noStrike" cap="all" spc="200" baseline="0" noProof="0" dirty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Javascript</a:t>
                      </a:r>
                      <a:r>
                        <a:rPr lang="en-US" sz="1000" b="0" i="0" u="none" strike="noStrike" cap="all" spc="200" baseline="0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, HTML, CSS, </a:t>
                      </a:r>
                      <a:r>
                        <a:rPr lang="en-US" sz="1000" b="0" i="0" u="none" strike="noStrike" cap="all" spc="200" baseline="0" noProof="0" dirty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adsense</a:t>
                      </a:r>
                      <a:r>
                        <a:rPr lang="en-US" sz="1000" b="0" i="0" u="none" strike="noStrike" cap="all" spc="200" baseline="0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, basic accounting, public relationship.</a:t>
                      </a:r>
                      <a:endParaRPr lang="en-US" sz="1000" b="0" i="0" u="none" strike="noStrike" cap="all" spc="200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074008"/>
                  </a:ext>
                </a:extLst>
              </a:tr>
            </a:tbl>
          </a:graphicData>
        </a:graphic>
      </p:graphicFrame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FED6547C-0F4C-8572-0038-B3ABF1D9D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900D103C-FE67-EA39-50FA-740B8CB01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8274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212EE-9B10-0789-200E-6B396987E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B602FCA3-9C6E-9DDC-84B8-9565DD356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892" y="1849902"/>
            <a:ext cx="6449964" cy="580029"/>
          </a:xfrm>
        </p:spPr>
        <p:txBody>
          <a:bodyPr lIns="91440" tIns="45720" rIns="91440" bIns="45720" anchor="t"/>
          <a:lstStyle/>
          <a:p>
            <a:pPr algn="ctr">
              <a:spcBef>
                <a:spcPts val="1000"/>
              </a:spcBef>
            </a:pPr>
            <a:r>
              <a:rPr lang="en-US" sz="3200">
                <a:solidFill>
                  <a:srgbClr val="0BE1FF"/>
                </a:solidFill>
                <a:ea typeface="+mj-lt"/>
                <a:cs typeface="+mj-lt"/>
              </a:rPr>
              <a:t>Operational Feasibility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DDAB1838-039D-B310-3AF0-5C0DC46082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82842" y="2706367"/>
            <a:ext cx="5824073" cy="2911699"/>
          </a:xfrm>
        </p:spPr>
        <p:txBody>
          <a:bodyPr lIns="91440" tIns="45720" rIns="91440" bIns="45720" anchor="t"/>
          <a:lstStyle/>
          <a:p>
            <a:pPr algn="l">
              <a:lnSpc>
                <a:spcPct val="150000"/>
              </a:lnSpc>
            </a:pPr>
            <a:r>
              <a:rPr lang="en-ZA" sz="1600" dirty="0"/>
              <a:t>Key figures for the application:</a:t>
            </a:r>
            <a:endParaRPr lang="en-US" dirty="0"/>
          </a:p>
          <a:p>
            <a:pPr marL="285750" indent="-285750" algn="l">
              <a:lnSpc>
                <a:spcPct val="150000"/>
              </a:lnSpc>
              <a:buFont typeface="Calibri" panose="020B0604020202020204" pitchFamily="34" charset="0"/>
              <a:buChar char="-"/>
            </a:pPr>
            <a:r>
              <a:rPr lang="en-ZA" sz="1600" dirty="0"/>
              <a:t>Our Dev-Ops engineer</a:t>
            </a:r>
            <a:endParaRPr lang="en-ZA" dirty="0"/>
          </a:p>
          <a:p>
            <a:pPr marL="285750" indent="-285750" algn="l">
              <a:lnSpc>
                <a:spcPct val="150000"/>
              </a:lnSpc>
              <a:buFont typeface="Calibri" panose="020B0604020202020204" pitchFamily="34" charset="0"/>
              <a:buChar char="-"/>
            </a:pPr>
            <a:r>
              <a:rPr lang="en-ZA" sz="1600" dirty="0"/>
              <a:t>The advertisement and PR specialist</a:t>
            </a:r>
          </a:p>
          <a:p>
            <a:pPr marL="285750" indent="-285750" algn="l">
              <a:lnSpc>
                <a:spcPct val="150000"/>
              </a:lnSpc>
              <a:buFont typeface="Calibri" panose="020B0604020202020204" pitchFamily="34" charset="0"/>
              <a:buChar char="-"/>
            </a:pPr>
            <a:endParaRPr lang="en-ZA" sz="16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8A88B-C494-201B-9C40-121649BDD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047F0-2B92-F4A2-4D5D-9A171EB2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69384"/>
      </p:ext>
    </p:extLst>
  </p:cSld>
  <p:clrMapOvr>
    <a:masterClrMapping/>
  </p:clrMapOvr>
  <p:transition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049A6-7A5A-5782-B894-2F4E2DCB4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45661CA2-2563-2553-66C8-DD308842D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892" y="1849902"/>
            <a:ext cx="6449964" cy="580029"/>
          </a:xfrm>
        </p:spPr>
        <p:txBody>
          <a:bodyPr lIns="91440" tIns="45720" rIns="91440" bIns="45720" anchor="t"/>
          <a:lstStyle/>
          <a:p>
            <a:pPr algn="ctr">
              <a:spcBef>
                <a:spcPts val="1000"/>
              </a:spcBef>
            </a:pPr>
            <a:r>
              <a:rPr lang="en-US" sz="3200">
                <a:solidFill>
                  <a:srgbClr val="0BE1FF"/>
                </a:solidFill>
                <a:ea typeface="+mj-lt"/>
                <a:cs typeface="+mj-lt"/>
              </a:rPr>
              <a:t>Operational Feasibility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DFEDA40C-C65D-4162-7C91-8BEE464F047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82842" y="2706367"/>
            <a:ext cx="5824073" cy="2911699"/>
          </a:xfrm>
        </p:spPr>
        <p:txBody>
          <a:bodyPr lIns="91440" tIns="45720" rIns="91440" bIns="45720" anchor="t"/>
          <a:lstStyle/>
          <a:p>
            <a:pPr algn="l">
              <a:lnSpc>
                <a:spcPct val="150000"/>
              </a:lnSpc>
            </a:pPr>
            <a:r>
              <a:rPr lang="en-ZA" sz="1600"/>
              <a:t>Operations can easily scale automatically on Kubernetes cluster thanks to the containerized architecture.</a:t>
            </a:r>
          </a:p>
          <a:p>
            <a:pPr algn="l">
              <a:lnSpc>
                <a:spcPct val="150000"/>
              </a:lnSpc>
            </a:pPr>
            <a:r>
              <a:rPr lang="en-ZA" sz="1600"/>
              <a:t>The app is easy to maintain thanks to the simple framework used.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4A7F62-58FA-F2B5-B9C3-F4831847A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B824D-15E8-17EC-3E4B-5CBD99853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48616"/>
      </p:ext>
    </p:extLst>
  </p:cSld>
  <p:clrMapOvr>
    <a:masterClrMapping/>
  </p:clrMapOvr>
  <p:transition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B5DCDD26-2EBE-4DA1-88E6-739CC32A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85301" y="2994608"/>
            <a:ext cx="1584471" cy="1584471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105DC8A-F469-4525-9B35-A48C39C67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05343" y="2994608"/>
            <a:ext cx="1584471" cy="1584471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3532D8B-A149-411A-B087-EBA1EE6C6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49019" y="2994608"/>
            <a:ext cx="1584471" cy="1584471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itle 52">
            <a:extLst>
              <a:ext uri="{FF2B5EF4-FFF2-40B4-BE49-F238E27FC236}">
                <a16:creationId xmlns:a16="http://schemas.microsoft.com/office/drawing/2014/main" id="{24046B9E-C52D-4466-AE77-E724F5B08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4345" y="1158710"/>
            <a:ext cx="5611660" cy="677782"/>
          </a:xfrm>
        </p:spPr>
        <p:txBody>
          <a:bodyPr lIns="91440" tIns="45720" rIns="91440" bIns="45720" anchor="b"/>
          <a:lstStyle/>
          <a:p>
            <a:pPr>
              <a:spcBef>
                <a:spcPts val="1000"/>
              </a:spcBef>
            </a:pPr>
            <a:r>
              <a:rPr lang="en-US" sz="3200">
                <a:solidFill>
                  <a:srgbClr val="0BE1FF"/>
                </a:solidFill>
                <a:ea typeface="+mj-lt"/>
                <a:cs typeface="+mj-lt"/>
              </a:rPr>
              <a:t>Timeline Feasibility</a:t>
            </a:r>
            <a:endParaRPr lang="en-US" sz="3200">
              <a:ea typeface="+mj-lt"/>
              <a:cs typeface="+mj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8F2B12-A6FB-49BB-8D11-55B45902D3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19730" y="1836492"/>
            <a:ext cx="5152539" cy="718457"/>
          </a:xfrm>
        </p:spPr>
        <p:txBody>
          <a:bodyPr/>
          <a:lstStyle/>
          <a:p>
            <a:r>
              <a:rPr lang="en-ZA"/>
              <a:t>How we’ll scale in the future</a:t>
            </a:r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B9D383F-A60F-4C89-8A00-CF569497000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33290" y="3262556"/>
            <a:ext cx="1706965" cy="1048575"/>
          </a:xfrm>
        </p:spPr>
        <p:txBody>
          <a:bodyPr lIns="91440" tIns="45720" rIns="91440" bIns="45720" anchor="ctr"/>
          <a:lstStyle/>
          <a:p>
            <a:r>
              <a:rPr lang="en-US"/>
              <a:t>JUL 2025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F406394-948C-4B32-9F32-893A9CDFB90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053332" y="3262556"/>
            <a:ext cx="1706965" cy="1048575"/>
          </a:xfrm>
        </p:spPr>
        <p:txBody>
          <a:bodyPr lIns="91440" tIns="45720" rIns="91440" bIns="45720" anchor="ctr"/>
          <a:lstStyle/>
          <a:p>
            <a:r>
              <a:rPr lang="en-US"/>
              <a:t>Sep 2025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00564ED2-7D0C-49B7-ABB1-6D7E498CDAD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97008" y="3262556"/>
            <a:ext cx="1706965" cy="1048575"/>
          </a:xfrm>
        </p:spPr>
        <p:txBody>
          <a:bodyPr lIns="91440" tIns="45720" rIns="91440" bIns="45720" anchor="ctr"/>
          <a:lstStyle/>
          <a:p>
            <a:r>
              <a:rPr lang="en-US"/>
              <a:t>Jan 2026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D4D6CB0C-A7D9-4409-AB5D-E136D3307D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23483" y="4704557"/>
            <a:ext cx="2718002" cy="1148945"/>
          </a:xfrm>
        </p:spPr>
        <p:txBody>
          <a:bodyPr lIns="91440" tIns="45720" rIns="91440" bIns="45720" anchor="t"/>
          <a:lstStyle/>
          <a:p>
            <a:r>
              <a:rPr lang="en-US">
                <a:ea typeface="+mn-lt"/>
                <a:cs typeface="+mn-lt"/>
              </a:rPr>
              <a:t>Build core app features and interfaces to validate concept and gather early feedback from selected users.</a:t>
            </a:r>
            <a:endParaRPr lang="en-US"/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C57077DD-31D5-47C0-8A51-7084E938B94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75005" y="4704558"/>
            <a:ext cx="3049241" cy="1148945"/>
          </a:xfrm>
        </p:spPr>
        <p:txBody>
          <a:bodyPr lIns="91440" tIns="45720" rIns="91440" bIns="45720" anchor="t"/>
          <a:lstStyle/>
          <a:p>
            <a:r>
              <a:rPr lang="en-US">
                <a:ea typeface="+mn-lt"/>
                <a:cs typeface="+mn-lt"/>
              </a:rPr>
              <a:t>Develop essential functionalities for market testing, integrate user feedback, and prepare app for initial limited release.</a:t>
            </a:r>
            <a:endParaRPr lang="en-US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E7D0D0D6-1ED1-462C-B06F-D055EA885C5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526553" y="4704557"/>
            <a:ext cx="3047872" cy="1148945"/>
          </a:xfrm>
        </p:spPr>
        <p:txBody>
          <a:bodyPr lIns="91440" tIns="45720" rIns="91440" bIns="45720" anchor="t"/>
          <a:lstStyle/>
          <a:p>
            <a:r>
              <a:rPr lang="en-US" dirty="0">
                <a:ea typeface="+mn-lt"/>
                <a:cs typeface="+mn-lt"/>
              </a:rPr>
              <a:t>Release to general public, launch advertisement campaign, sale of google ads and lifetime no-ad subscriptions for initial financing.</a:t>
            </a:r>
          </a:p>
          <a:p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4A4EFB0B-EDB6-4E5D-BD82-B6F5A96E25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97A7A317-65B9-416D-A896-F174F465E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94624"/>
      </p:ext>
    </p:extLst>
  </p:cSld>
  <p:clrMapOvr>
    <a:masterClrMapping/>
  </p:clrMapOvr>
  <p:transition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34E3F-44FF-B656-0E15-28FA0FDB4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itle 520">
            <a:extLst>
              <a:ext uri="{FF2B5EF4-FFF2-40B4-BE49-F238E27FC236}">
                <a16:creationId xmlns:a16="http://schemas.microsoft.com/office/drawing/2014/main" id="{068DAC99-9B6A-678D-4B81-8673F5447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698" y="512299"/>
            <a:ext cx="10515600" cy="727388"/>
          </a:xfrm>
        </p:spPr>
        <p:txBody>
          <a:bodyPr/>
          <a:lstStyle/>
          <a:p>
            <a:r>
              <a:rPr lang="en-US" noProof="0"/>
              <a:t>Two-year action plan</a:t>
            </a:r>
            <a:endParaRPr lang="en-US"/>
          </a:p>
        </p:txBody>
      </p:sp>
      <p:sp>
        <p:nvSpPr>
          <p:cNvPr id="360" name="Text Placeholder 359">
            <a:extLst>
              <a:ext uri="{FF2B5EF4-FFF2-40B4-BE49-F238E27FC236}">
                <a16:creationId xmlns:a16="http://schemas.microsoft.com/office/drawing/2014/main" id="{FD1FF85B-D43E-3191-C307-550F19C4A92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57769" y="1780403"/>
            <a:ext cx="1440088" cy="586248"/>
          </a:xfrm>
        </p:spPr>
        <p:txBody>
          <a:bodyPr lIns="91440" tIns="45720" rIns="91440" bIns="45720" anchor="ctr"/>
          <a:lstStyle/>
          <a:p>
            <a:r>
              <a:rPr lang="en-ZA"/>
              <a:t>Beta Testing</a:t>
            </a:r>
          </a:p>
        </p:txBody>
      </p:sp>
      <p:sp>
        <p:nvSpPr>
          <p:cNvPr id="117" name="Text Placeholder 116">
            <a:extLst>
              <a:ext uri="{FF2B5EF4-FFF2-40B4-BE49-F238E27FC236}">
                <a16:creationId xmlns:a16="http://schemas.microsoft.com/office/drawing/2014/main" id="{ABB1CD78-7129-EF1F-4745-1984DA24E0C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5322" y="2436036"/>
            <a:ext cx="1194201" cy="501726"/>
          </a:xfrm>
        </p:spPr>
        <p:txBody>
          <a:bodyPr lIns="91440" tIns="45720" rIns="91440" bIns="45720" anchor="ctr"/>
          <a:lstStyle/>
          <a:p>
            <a:r>
              <a:rPr lang="en-US"/>
              <a:t>2025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0652909-76B3-B5FC-AE49-C69EA56D84D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5402" y="2774313"/>
            <a:ext cx="495300" cy="904490"/>
          </a:xfrm>
        </p:spPr>
        <p:txBody>
          <a:bodyPr/>
          <a:lstStyle/>
          <a:p>
            <a:r>
              <a:rPr lang="en-US"/>
              <a:t>Jan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A07B0F0-EB58-A8F8-6CA9-33999700957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464817" y="2774313"/>
            <a:ext cx="495300" cy="904490"/>
          </a:xfrm>
        </p:spPr>
        <p:txBody>
          <a:bodyPr/>
          <a:lstStyle/>
          <a:p>
            <a:r>
              <a:rPr lang="en-US"/>
              <a:t>Feb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E7D61CB-CD3A-558E-4A41-040193AB4A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54232" y="2774313"/>
            <a:ext cx="495300" cy="904490"/>
          </a:xfrm>
        </p:spPr>
        <p:txBody>
          <a:bodyPr/>
          <a:lstStyle/>
          <a:p>
            <a:r>
              <a:rPr lang="en-US"/>
              <a:t>Mar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D541439-0487-074D-CAD7-CC1AFA95DCE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043647" y="2774313"/>
            <a:ext cx="495300" cy="904490"/>
          </a:xfrm>
        </p:spPr>
        <p:txBody>
          <a:bodyPr/>
          <a:lstStyle/>
          <a:p>
            <a:r>
              <a:rPr lang="en-US"/>
              <a:t>Apr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C1E3C97B-2E6E-D407-F950-B52AC8078AD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833062" y="2774313"/>
            <a:ext cx="495300" cy="904490"/>
          </a:xfrm>
        </p:spPr>
        <p:txBody>
          <a:bodyPr/>
          <a:lstStyle/>
          <a:p>
            <a:r>
              <a:rPr lang="en-US"/>
              <a:t>May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EF94CF9-9848-6C85-7750-AC3913F41AC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622477" y="2774313"/>
            <a:ext cx="495300" cy="904490"/>
          </a:xfrm>
        </p:spPr>
        <p:txBody>
          <a:bodyPr/>
          <a:lstStyle/>
          <a:p>
            <a:r>
              <a:rPr lang="en-US"/>
              <a:t>Jun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A6DA067-D735-3AA6-D2AA-D4A6437CCC4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411892" y="2774313"/>
            <a:ext cx="495300" cy="904490"/>
          </a:xfrm>
        </p:spPr>
        <p:txBody>
          <a:bodyPr/>
          <a:lstStyle/>
          <a:p>
            <a:r>
              <a:rPr lang="en-US"/>
              <a:t>Jul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AF8B0C4-A638-6911-F0F4-14AD91416A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01307" y="2774313"/>
            <a:ext cx="495300" cy="904490"/>
          </a:xfrm>
        </p:spPr>
        <p:txBody>
          <a:bodyPr/>
          <a:lstStyle/>
          <a:p>
            <a:r>
              <a:rPr lang="en-US"/>
              <a:t>Aug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9614E63-F038-7CCA-8DE7-51739074FE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990722" y="2774313"/>
            <a:ext cx="495300" cy="904490"/>
          </a:xfrm>
        </p:spPr>
        <p:txBody>
          <a:bodyPr/>
          <a:lstStyle/>
          <a:p>
            <a:r>
              <a:rPr lang="en-US"/>
              <a:t>Sep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6469A939-3F99-70FA-F425-D3483D4B6FF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780137" y="2774313"/>
            <a:ext cx="495300" cy="904490"/>
          </a:xfrm>
        </p:spPr>
        <p:txBody>
          <a:bodyPr/>
          <a:lstStyle/>
          <a:p>
            <a:r>
              <a:rPr lang="en-US"/>
              <a:t>Oct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B0AC8B7-3D13-D956-9DB4-6B67674AA54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69552" y="2774313"/>
            <a:ext cx="495300" cy="904490"/>
          </a:xfrm>
        </p:spPr>
        <p:txBody>
          <a:bodyPr/>
          <a:lstStyle/>
          <a:p>
            <a:r>
              <a:rPr lang="en-US"/>
              <a:t>Nov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047757A-EF46-C4F2-0433-1ACB320D159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358963" y="2774313"/>
            <a:ext cx="495300" cy="904490"/>
          </a:xfrm>
        </p:spPr>
        <p:txBody>
          <a:bodyPr/>
          <a:lstStyle/>
          <a:p>
            <a:r>
              <a:rPr lang="en-US"/>
              <a:t>Dec</a:t>
            </a:r>
          </a:p>
        </p:txBody>
      </p:sp>
      <p:sp>
        <p:nvSpPr>
          <p:cNvPr id="566" name="Text Placeholder 565">
            <a:extLst>
              <a:ext uri="{FF2B5EF4-FFF2-40B4-BE49-F238E27FC236}">
                <a16:creationId xmlns:a16="http://schemas.microsoft.com/office/drawing/2014/main" id="{3C5605E3-DCCC-844A-4202-71C4C60BBCF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9886573" y="3563114"/>
            <a:ext cx="1440088" cy="586248"/>
          </a:xfrm>
        </p:spPr>
        <p:txBody>
          <a:bodyPr lIns="91440" tIns="45720" rIns="91440" bIns="45720" anchor="ctr"/>
          <a:lstStyle/>
          <a:p>
            <a:r>
              <a:rPr lang="en-ZA"/>
              <a:t>Rollout</a:t>
            </a:r>
          </a:p>
        </p:txBody>
      </p:sp>
      <p:sp>
        <p:nvSpPr>
          <p:cNvPr id="118" name="Text Placeholder 117">
            <a:extLst>
              <a:ext uri="{FF2B5EF4-FFF2-40B4-BE49-F238E27FC236}">
                <a16:creationId xmlns:a16="http://schemas.microsoft.com/office/drawing/2014/main" id="{D3C865DB-7526-9B21-F34A-59D64354AC2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05322" y="4134112"/>
            <a:ext cx="1194201" cy="501726"/>
          </a:xfrm>
        </p:spPr>
        <p:txBody>
          <a:bodyPr lIns="91440" tIns="45720" rIns="91440" bIns="45720" anchor="ctr"/>
          <a:lstStyle/>
          <a:p>
            <a:r>
              <a:rPr lang="en-US"/>
              <a:t>2026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04750E09-E351-5518-F78D-8005D9F8EF2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675402" y="4476140"/>
            <a:ext cx="495300" cy="904490"/>
          </a:xfrm>
        </p:spPr>
        <p:txBody>
          <a:bodyPr/>
          <a:lstStyle/>
          <a:p>
            <a:r>
              <a:rPr lang="en-US"/>
              <a:t>Jan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D16E4944-D0B5-41B1-6386-688C8736CC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464817" y="4476140"/>
            <a:ext cx="495300" cy="904490"/>
          </a:xfrm>
        </p:spPr>
        <p:txBody>
          <a:bodyPr/>
          <a:lstStyle/>
          <a:p>
            <a:r>
              <a:rPr lang="en-US"/>
              <a:t>Feb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7666930F-8500-DAAF-5479-FFA92B6398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254232" y="4476140"/>
            <a:ext cx="495300" cy="904490"/>
          </a:xfrm>
        </p:spPr>
        <p:txBody>
          <a:bodyPr/>
          <a:lstStyle/>
          <a:p>
            <a:r>
              <a:rPr lang="en-US"/>
              <a:t>Mar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80279AE-BAC8-BCF3-EBA2-F94166C453F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043647" y="4476140"/>
            <a:ext cx="495300" cy="904490"/>
          </a:xfrm>
        </p:spPr>
        <p:txBody>
          <a:bodyPr/>
          <a:lstStyle/>
          <a:p>
            <a:r>
              <a:rPr lang="en-US"/>
              <a:t>Apr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99F03C26-D6E0-ACB8-C8E7-A0CBE34E8E0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833062" y="4476140"/>
            <a:ext cx="495300" cy="904490"/>
          </a:xfrm>
        </p:spPr>
        <p:txBody>
          <a:bodyPr/>
          <a:lstStyle/>
          <a:p>
            <a:r>
              <a:rPr lang="en-US"/>
              <a:t>May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F845529C-DD16-2CFE-C17A-4C828332603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22477" y="4476140"/>
            <a:ext cx="495300" cy="904490"/>
          </a:xfrm>
        </p:spPr>
        <p:txBody>
          <a:bodyPr/>
          <a:lstStyle/>
          <a:p>
            <a:r>
              <a:rPr lang="en-US"/>
              <a:t>Jun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C162A600-C843-8A04-2028-D6D9E155C31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411892" y="4476140"/>
            <a:ext cx="495300" cy="904490"/>
          </a:xfrm>
        </p:spPr>
        <p:txBody>
          <a:bodyPr/>
          <a:lstStyle/>
          <a:p>
            <a:r>
              <a:rPr lang="en-US"/>
              <a:t>Jul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C32E095B-71D7-B43A-53BE-DD8825960A5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201307" y="4476140"/>
            <a:ext cx="495300" cy="904490"/>
          </a:xfrm>
        </p:spPr>
        <p:txBody>
          <a:bodyPr/>
          <a:lstStyle/>
          <a:p>
            <a:r>
              <a:rPr lang="en-US"/>
              <a:t>Aug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1DE582AB-C5F3-D0F7-29C8-F116C2AC857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990722" y="4476140"/>
            <a:ext cx="495300" cy="904490"/>
          </a:xfrm>
        </p:spPr>
        <p:txBody>
          <a:bodyPr/>
          <a:lstStyle/>
          <a:p>
            <a:r>
              <a:rPr lang="en-US"/>
              <a:t>Sep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CDA54185-D59A-7422-D503-A92E14A9927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780137" y="4476140"/>
            <a:ext cx="495300" cy="904490"/>
          </a:xfrm>
        </p:spPr>
        <p:txBody>
          <a:bodyPr/>
          <a:lstStyle/>
          <a:p>
            <a:r>
              <a:rPr lang="en-US"/>
              <a:t>Oct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46913D4B-31A8-8294-DA77-4D4BA58B260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569552" y="4476140"/>
            <a:ext cx="495300" cy="904490"/>
          </a:xfrm>
        </p:spPr>
        <p:txBody>
          <a:bodyPr/>
          <a:lstStyle/>
          <a:p>
            <a:r>
              <a:rPr lang="en-US"/>
              <a:t>Nov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1D8E54A1-B53D-E776-660A-82C1C9E4E76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358963" y="4476140"/>
            <a:ext cx="495300" cy="904490"/>
          </a:xfrm>
        </p:spPr>
        <p:txBody>
          <a:bodyPr/>
          <a:lstStyle/>
          <a:p>
            <a:r>
              <a:rPr lang="en-US"/>
              <a:t>Dec</a:t>
            </a:r>
          </a:p>
        </p:txBody>
      </p:sp>
      <p:sp>
        <p:nvSpPr>
          <p:cNvPr id="801" name="Footer Placeholder 800">
            <a:extLst>
              <a:ext uri="{FF2B5EF4-FFF2-40B4-BE49-F238E27FC236}">
                <a16:creationId xmlns:a16="http://schemas.microsoft.com/office/drawing/2014/main" id="{1F094416-65BC-39DA-27AD-2970588AC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</a:p>
        </p:txBody>
      </p:sp>
      <p:sp>
        <p:nvSpPr>
          <p:cNvPr id="802" name="Slide Number Placeholder 801">
            <a:extLst>
              <a:ext uri="{FF2B5EF4-FFF2-40B4-BE49-F238E27FC236}">
                <a16:creationId xmlns:a16="http://schemas.microsoft.com/office/drawing/2014/main" id="{A554BA79-1242-49D6-CB22-C4CD2B178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5EB6F7BA-6BF4-84FA-D9D4-7213A9C16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35966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66CF5817-1FD0-C33E-6DE3-27BEF8635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25447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08F80C26-CA85-9E94-28EC-3108D8E8B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14928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78A52B9B-336C-1983-F45B-FA49CAE27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04409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06DB99E4-FB8F-66F9-E3C8-02106049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93890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6878308F-F71C-A339-1145-214916D63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83371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8AC61824-8F8B-5E30-9E40-053A990BB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72852" y="2599627"/>
            <a:ext cx="174171" cy="174171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C8AECCEE-C116-D632-FAA3-CBCE9561D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62333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0C0AF525-5C03-4B09-2527-7B90DC17B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814" y="2599627"/>
            <a:ext cx="174171" cy="174171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5735129F-AE9F-71DA-0416-656F36D96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41295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FF5CD243-1654-E878-BAC4-C5036DCBE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30776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377B7660-F29A-C838-D18D-D39ED1678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20258" y="2599627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5B19B17E-7200-5F22-622D-FFAFF3855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35966" y="4304098"/>
            <a:ext cx="174171" cy="174171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1E659C80-5353-2C0F-EE9C-890CDE66E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5447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92CE43C9-634F-0AB8-0C6E-0574CB0E1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4928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EA60DFD1-9D26-F726-41FB-9394EAC44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04409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7C439242-FC41-C1AA-CD65-6941010AA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3890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34A4C639-BAD9-CBFE-6AF4-F853EA474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83371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63DF58FD-B9E2-6F3F-E25F-7EFC2C445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62333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FA9CABC0-D238-BA55-D737-44DF284D0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51814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C9D0BBF2-A97D-22B1-4AA7-EE9BCFC5D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41295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9C49B57C-3A8D-44E8-4871-F49A3D20A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30776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62776A65-9B5C-20EC-E32F-6878BD33D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20258" y="4304098"/>
            <a:ext cx="174171" cy="174171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1C114FE5-A3A2-AB6A-C1BC-B971C1512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72852" y="4304098"/>
            <a:ext cx="174171" cy="174171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5" name="Straight Connector 654">
            <a:extLst>
              <a:ext uri="{FF2B5EF4-FFF2-40B4-BE49-F238E27FC236}">
                <a16:creationId xmlns:a16="http://schemas.microsoft.com/office/drawing/2014/main" id="{81C7D0CC-2E10-2109-9CD9-5952916BE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0606713" y="4118492"/>
            <a:ext cx="1260" cy="34441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C4C8FD7-DE54-0019-6C2B-C8F1E321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658167" y="2436154"/>
            <a:ext cx="1260" cy="34441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565">
            <a:extLst>
              <a:ext uri="{FF2B5EF4-FFF2-40B4-BE49-F238E27FC236}">
                <a16:creationId xmlns:a16="http://schemas.microsoft.com/office/drawing/2014/main" id="{86744CE8-C7AB-62B6-3D5B-CF921524EAC1}"/>
              </a:ext>
            </a:extLst>
          </p:cNvPr>
          <p:cNvSpPr txBox="1">
            <a:spLocks/>
          </p:cNvSpPr>
          <p:nvPr/>
        </p:nvSpPr>
        <p:spPr>
          <a:xfrm>
            <a:off x="5922193" y="1775878"/>
            <a:ext cx="1440088" cy="586248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 cap="none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/>
              <a:t>Prototype</a:t>
            </a:r>
          </a:p>
          <a:p>
            <a:r>
              <a:rPr lang="en-ZA"/>
              <a:t>development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9ECC5E-22E8-1BFE-4462-B7338116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241544" y="2436154"/>
            <a:ext cx="1260" cy="34441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565">
            <a:extLst>
              <a:ext uri="{FF2B5EF4-FFF2-40B4-BE49-F238E27FC236}">
                <a16:creationId xmlns:a16="http://schemas.microsoft.com/office/drawing/2014/main" id="{7037057F-CBC2-05F1-BBCA-F46A71678638}"/>
              </a:ext>
            </a:extLst>
          </p:cNvPr>
          <p:cNvSpPr txBox="1">
            <a:spLocks/>
          </p:cNvSpPr>
          <p:nvPr/>
        </p:nvSpPr>
        <p:spPr>
          <a:xfrm>
            <a:off x="7515466" y="1775878"/>
            <a:ext cx="1440088" cy="586248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 cap="none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/>
              <a:t>MVP</a:t>
            </a:r>
          </a:p>
          <a:p>
            <a:r>
              <a:rPr lang="en-ZA"/>
              <a:t>development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23C45D-6FFE-D53C-6684-501082660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917933" y="4128387"/>
            <a:ext cx="1260" cy="34441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565">
            <a:extLst>
              <a:ext uri="{FF2B5EF4-FFF2-40B4-BE49-F238E27FC236}">
                <a16:creationId xmlns:a16="http://schemas.microsoft.com/office/drawing/2014/main" id="{768C4185-C0C4-1F01-FC7C-1937FA8A669C}"/>
              </a:ext>
            </a:extLst>
          </p:cNvPr>
          <p:cNvSpPr txBox="1">
            <a:spLocks/>
          </p:cNvSpPr>
          <p:nvPr/>
        </p:nvSpPr>
        <p:spPr>
          <a:xfrm>
            <a:off x="1216792" y="3562580"/>
            <a:ext cx="1440088" cy="586248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 cap="none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/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1665610424"/>
      </p:ext>
    </p:extLst>
  </p:cSld>
  <p:clrMapOvr>
    <a:masterClrMapping/>
  </p:clrMapOvr>
  <p:transition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6F6B8-6E38-F77C-30C4-F2DF2B8FD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2C7E19B0-B250-6820-2D58-FAC9CC4E7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486" y="1849902"/>
            <a:ext cx="4985606" cy="580029"/>
          </a:xfrm>
        </p:spPr>
        <p:txBody>
          <a:bodyPr lIns="91440" tIns="45720" rIns="91440" bIns="45720" anchor="t"/>
          <a:lstStyle/>
          <a:p>
            <a:pPr algn="ctr">
              <a:spcBef>
                <a:spcPts val="1000"/>
              </a:spcBef>
            </a:pPr>
            <a:r>
              <a:rPr lang="en-US" sz="3200">
                <a:solidFill>
                  <a:srgbClr val="0BE1FF"/>
                </a:solidFill>
                <a:ea typeface="+mj-lt"/>
                <a:cs typeface="+mj-lt"/>
              </a:rPr>
              <a:t>Risk Feasibility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61FBEEB4-69E1-EDAC-A3A2-A0648D86CDD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82842" y="2706367"/>
            <a:ext cx="5824073" cy="2911699"/>
          </a:xfrm>
        </p:spPr>
        <p:txBody>
          <a:bodyPr lIns="91440" tIns="45720" rIns="91440" bIns="45720" anchor="t"/>
          <a:lstStyle/>
          <a:p>
            <a:pPr marL="285750" indent="-285750" algn="l">
              <a:lnSpc>
                <a:spcPct val="150000"/>
              </a:lnSpc>
              <a:buChar char="•"/>
            </a:pPr>
            <a:r>
              <a:rPr lang="en-ZA" sz="1600"/>
              <a:t>Thanks to the platform independent nature of the app, we can avoid all technical risks.</a:t>
            </a:r>
            <a:endParaRPr lang="en-US"/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en-ZA" sz="1600"/>
              <a:t>No personal user data is stored by design so there are no risks regarding privacy regulations.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en-ZA" sz="1600"/>
              <a:t>Dependency from LLM API costs can be avoided with self-hosting.</a:t>
            </a:r>
          </a:p>
          <a:p>
            <a:pPr marL="285750" indent="-285750" algn="l">
              <a:lnSpc>
                <a:spcPct val="150000"/>
              </a:lnSpc>
              <a:buChar char="•"/>
            </a:pPr>
            <a:r>
              <a:rPr lang="en-ZA" sz="1600"/>
              <a:t>Variations in Google places API costs can affect our income.</a:t>
            </a:r>
          </a:p>
          <a:p>
            <a:pPr algn="l">
              <a:lnSpc>
                <a:spcPct val="150000"/>
              </a:lnSpc>
            </a:pPr>
            <a:endParaRPr lang="en-ZA" sz="16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EBEBA-1E21-0698-6DDF-1BEE4941C0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BD258-72D1-E03A-E6C6-59E8E7FD38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44531"/>
      </p:ext>
    </p:extLst>
  </p:cSld>
  <p:clrMapOvr>
    <a:masterClrMapping/>
  </p:clrMapOvr>
  <p:transition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00DD6-DA49-8BF6-1F88-1A0D9D61E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859D2CD2-28AD-1B85-818F-E9B1898E5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486" y="1849902"/>
            <a:ext cx="4985606" cy="580029"/>
          </a:xfrm>
        </p:spPr>
        <p:txBody>
          <a:bodyPr lIns="91440" tIns="45720" rIns="91440" bIns="45720" anchor="t"/>
          <a:lstStyle/>
          <a:p>
            <a:pPr algn="ctr">
              <a:spcBef>
                <a:spcPts val="1000"/>
              </a:spcBef>
            </a:pPr>
            <a:r>
              <a:rPr lang="en-US" sz="3200">
                <a:solidFill>
                  <a:srgbClr val="0BE1FF"/>
                </a:solidFill>
                <a:ea typeface="+mj-lt"/>
                <a:cs typeface="+mj-lt"/>
              </a:rPr>
              <a:t>Conclusions</a:t>
            </a:r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C1AC4D8B-220E-3432-4F91-79CAEB1BFD7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82842" y="2706367"/>
            <a:ext cx="5824073" cy="2911699"/>
          </a:xfrm>
        </p:spPr>
        <p:txBody>
          <a:bodyPr lIns="91440" tIns="45720" rIns="91440" bIns="45720" anchor="t"/>
          <a:lstStyle/>
          <a:p>
            <a:pPr algn="l">
              <a:lnSpc>
                <a:spcPct val="150000"/>
              </a:lnSpc>
            </a:pPr>
            <a:r>
              <a:rPr lang="en-ZA" sz="1600"/>
              <a:t>Given our flexible and scalable architecture, </a:t>
            </a:r>
            <a:r>
              <a:rPr lang="en-ZA" sz="1600">
                <a:ea typeface="+mn-lt"/>
                <a:cs typeface="+mn-lt"/>
              </a:rPr>
              <a:t>along with a broad target market, we believe this solution represents a strong investment opportunity with high growth potential.</a:t>
            </a:r>
            <a:endParaRPr lang="en-ZA" sz="16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B63C9B-5837-0929-8356-15F586BD48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1772C-E3E6-51AC-8E28-7CE4D785B9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33321"/>
      </p:ext>
    </p:extLst>
  </p:cSld>
  <p:clrMapOvr>
    <a:masterClrMapping/>
  </p:clrMapOvr>
  <p:transition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EEFBA2-D2C5-483D-A977-8998D1677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algn="just"/>
            <a:r>
              <a:rPr lang="en-US"/>
              <a:t>Why us?</a:t>
            </a:r>
          </a:p>
        </p:txBody>
      </p:sp>
    </p:spTree>
    <p:extLst>
      <p:ext uri="{BB962C8B-B14F-4D97-AF65-F5344CB8AC3E}">
        <p14:creationId xmlns:p14="http://schemas.microsoft.com/office/powerpoint/2010/main" val="3716496139"/>
      </p:ext>
    </p:extLst>
  </p:cSld>
  <p:clrMapOvr>
    <a:masterClrMapping/>
  </p:clrMapOvr>
  <p:transition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89043-E4E5-7987-B9CD-007364953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>
            <a:extLst>
              <a:ext uri="{FF2B5EF4-FFF2-40B4-BE49-F238E27FC236}">
                <a16:creationId xmlns:a16="http://schemas.microsoft.com/office/drawing/2014/main" id="{5B750A90-648F-196D-FA0C-7C700F24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082" y="2232234"/>
            <a:ext cx="7323836" cy="743753"/>
          </a:xfrm>
        </p:spPr>
        <p:txBody>
          <a:bodyPr lIns="91440" tIns="45720" rIns="91440" bIns="45720" anchor="t"/>
          <a:lstStyle/>
          <a:p>
            <a:r>
              <a:rPr lang="en-US"/>
              <a:t>High-value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AB6C44C-0AE9-8FA2-706F-A6427EF3614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69369" y="3317783"/>
            <a:ext cx="4172533" cy="274650"/>
          </a:xfrm>
        </p:spPr>
        <p:txBody>
          <a:bodyPr lIns="91440" tIns="45720" rIns="91440" bIns="45720" anchor="t"/>
          <a:lstStyle/>
          <a:p>
            <a:r>
              <a:rPr lang="en-US"/>
              <a:t>Travel Mate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5279E4A-FDED-EC81-49E0-0AB9451034F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69369" y="3651424"/>
            <a:ext cx="4172533" cy="2329657"/>
          </a:xfrm>
        </p:spPr>
        <p:txBody>
          <a:bodyPr lIns="91440" tIns="45720" rIns="91440" bIns="45720" anchor="t"/>
          <a:lstStyle/>
          <a:p>
            <a:r>
              <a:rPr lang="en-ZA"/>
              <a:t>Aimed at automotive, non-planned</a:t>
            </a:r>
            <a:br>
              <a:rPr lang="en-ZA"/>
            </a:br>
            <a:r>
              <a:rPr lang="en-ZA"/>
              <a:t>Fixed 0.94$ commission per navigation</a:t>
            </a:r>
            <a:br>
              <a:rPr lang="en-ZA"/>
            </a:br>
            <a:br>
              <a:rPr lang="en-ZA"/>
            </a:br>
            <a:r>
              <a:rPr lang="en-ZA"/>
              <a:t>No hidden fees.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572CDF58-F343-3C1E-2A79-B153C24328B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72448" y="3317783"/>
            <a:ext cx="4172533" cy="274650"/>
          </a:xfrm>
        </p:spPr>
        <p:txBody>
          <a:bodyPr/>
          <a:lstStyle/>
          <a:p>
            <a:r>
              <a:rPr lang="en-US"/>
              <a:t>competitors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284761CE-9A32-DA53-CEF2-B73A5166273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72448" y="3565160"/>
            <a:ext cx="4172533" cy="2574071"/>
          </a:xfrm>
        </p:spPr>
        <p:txBody>
          <a:bodyPr lIns="91440" tIns="45720" rIns="91440" bIns="45720" anchor="t"/>
          <a:lstStyle/>
          <a:p>
            <a:r>
              <a:rPr lang="en-US"/>
              <a:t>Booking.com</a:t>
            </a:r>
            <a:br>
              <a:rPr lang="en-US"/>
            </a:br>
            <a:r>
              <a:rPr lang="en-US"/>
              <a:t>18% or more on commissions on each stay</a:t>
            </a:r>
          </a:p>
          <a:p>
            <a:r>
              <a:rPr lang="en-US"/>
              <a:t>Other platforms: high-commission, focused on planned stays</a:t>
            </a:r>
          </a:p>
        </p:txBody>
      </p:sp>
      <p:sp>
        <p:nvSpPr>
          <p:cNvPr id="43" name="Footer Placeholder 42">
            <a:extLst>
              <a:ext uri="{FF2B5EF4-FFF2-40B4-BE49-F238E27FC236}">
                <a16:creationId xmlns:a16="http://schemas.microsoft.com/office/drawing/2014/main" id="{4D7689C6-9880-BA1A-FAD3-F639C7CDA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6DB73C95-2D03-C3DF-9C99-B181ECC10F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21813"/>
      </p:ext>
    </p:extLst>
  </p:cSld>
  <p:clrMapOvr>
    <a:masterClrMapping/>
  </p:clrMapOvr>
  <p:transition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B82F7667-6964-4684-A3BD-F37CCB6F5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70965" y="2869654"/>
            <a:ext cx="1836265" cy="1821888"/>
          </a:xfrm>
          <a:prstGeom prst="ellipse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285C500-FA8C-47EB-A9D6-D73CEC783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9359" y="3982246"/>
            <a:ext cx="1002380" cy="1002380"/>
          </a:xfrm>
          <a:prstGeom prst="ellipse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C8F4A0-5A3F-4793-948C-37C7F63BA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7549" y="4940495"/>
            <a:ext cx="1131776" cy="1074266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EFDAC96-A13C-45C8-85D9-E76C3F073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19210" y="1889989"/>
            <a:ext cx="1584471" cy="1584471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itle 65">
            <a:extLst>
              <a:ext uri="{FF2B5EF4-FFF2-40B4-BE49-F238E27FC236}">
                <a16:creationId xmlns:a16="http://schemas.microsoft.com/office/drawing/2014/main" id="{2064AD79-FC3F-4ACB-9FCC-5DB4E1A3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107" y="501519"/>
            <a:ext cx="10515600" cy="492025"/>
          </a:xfrm>
        </p:spPr>
        <p:txBody>
          <a:bodyPr/>
          <a:lstStyle/>
          <a:p>
            <a:r>
              <a:rPr lang="en-US" noProof="0"/>
              <a:t>Our competition graphic</a:t>
            </a:r>
            <a:br>
              <a:rPr lang="en-US"/>
            </a:br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778AC672-B3A8-4818-A2DD-4AC4E09C21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27206" y="1599947"/>
            <a:ext cx="1706965" cy="492025"/>
          </a:xfrm>
        </p:spPr>
        <p:txBody>
          <a:bodyPr/>
          <a:lstStyle/>
          <a:p>
            <a:r>
              <a:rPr lang="en-US"/>
              <a:t>convenient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4EE2917-789E-49D4-B116-1CFBDB471D7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57963" y="2157937"/>
            <a:ext cx="1706965" cy="1048575"/>
          </a:xfrm>
        </p:spPr>
        <p:txBody>
          <a:bodyPr lIns="91440" tIns="45720" rIns="91440" bIns="45720" anchor="ctr"/>
          <a:lstStyle/>
          <a:p>
            <a:r>
              <a:rPr lang="en-US"/>
              <a:t>Travel mate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26BA2DA-C2D4-4602-A901-B6642B65001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34399" y="3528829"/>
            <a:ext cx="1209143" cy="492025"/>
          </a:xfrm>
        </p:spPr>
        <p:txBody>
          <a:bodyPr/>
          <a:lstStyle/>
          <a:p>
            <a:r>
              <a:rPr lang="en-US"/>
              <a:t>expensive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9D3632F-CFE2-4072-8A8C-DF1D84B0A5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31018" y="3528829"/>
            <a:ext cx="1380681" cy="492025"/>
          </a:xfrm>
        </p:spPr>
        <p:txBody>
          <a:bodyPr/>
          <a:lstStyle/>
          <a:p>
            <a:r>
              <a:rPr lang="en-US"/>
              <a:t>affordable</a:t>
            </a:r>
          </a:p>
        </p:txBody>
      </p:sp>
      <p:sp>
        <p:nvSpPr>
          <p:cNvPr id="118" name="Text Placeholder 117">
            <a:extLst>
              <a:ext uri="{FF2B5EF4-FFF2-40B4-BE49-F238E27FC236}">
                <a16:creationId xmlns:a16="http://schemas.microsoft.com/office/drawing/2014/main" id="{F91DCB5A-57D3-4EBF-A9A1-B708D2A1340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437435" y="3412379"/>
            <a:ext cx="2103329" cy="750817"/>
          </a:xfrm>
        </p:spPr>
        <p:txBody>
          <a:bodyPr lIns="91440" tIns="45720" rIns="91440" bIns="45720" anchor="ctr"/>
          <a:lstStyle/>
          <a:p>
            <a:r>
              <a:rPr lang="en-US"/>
              <a:t>Booking</a:t>
            </a:r>
          </a:p>
          <a:p>
            <a:r>
              <a:rPr lang="en-US"/>
              <a:t>Tripadvisor</a:t>
            </a:r>
          </a:p>
        </p:txBody>
      </p:sp>
      <p:sp>
        <p:nvSpPr>
          <p:cNvPr id="120" name="Text Placeholder 119">
            <a:extLst>
              <a:ext uri="{FF2B5EF4-FFF2-40B4-BE49-F238E27FC236}">
                <a16:creationId xmlns:a16="http://schemas.microsoft.com/office/drawing/2014/main" id="{8C60C4A6-41AD-4FB6-A2B5-385108B9D92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08959" y="4237424"/>
            <a:ext cx="1183179" cy="492025"/>
          </a:xfrm>
        </p:spPr>
        <p:txBody>
          <a:bodyPr lIns="91440" tIns="45720" rIns="91440" bIns="45720" anchor="ctr"/>
          <a:lstStyle/>
          <a:p>
            <a:r>
              <a:rPr lang="en-US"/>
              <a:t>Maps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DD0E0121-9CF8-404E-ACC6-53AFD861FE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27206" y="5468790"/>
            <a:ext cx="1706965" cy="492025"/>
          </a:xfrm>
        </p:spPr>
        <p:txBody>
          <a:bodyPr/>
          <a:lstStyle/>
          <a:p>
            <a:r>
              <a:rPr lang="en-ZA"/>
              <a:t>Inconvenient</a:t>
            </a:r>
            <a:r>
              <a:rPr lang="en-US"/>
              <a:t>​</a:t>
            </a:r>
          </a:p>
        </p:txBody>
      </p:sp>
      <p:sp>
        <p:nvSpPr>
          <p:cNvPr id="121" name="Text Placeholder 120">
            <a:extLst>
              <a:ext uri="{FF2B5EF4-FFF2-40B4-BE49-F238E27FC236}">
                <a16:creationId xmlns:a16="http://schemas.microsoft.com/office/drawing/2014/main" id="{7B873056-ABAF-409E-9B1F-8C0284480F9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42773" y="5210050"/>
            <a:ext cx="1355707" cy="492025"/>
          </a:xfrm>
        </p:spPr>
        <p:txBody>
          <a:bodyPr lIns="91440" tIns="45720" rIns="91440" bIns="45720" anchor="ctr"/>
          <a:lstStyle/>
          <a:p>
            <a:r>
              <a:rPr lang="en-US"/>
              <a:t>WEB search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96604-7FB5-4F50-A96E-4386473A5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D13EE-70A1-4778-AF2D-A9A1C2D82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18105"/>
      </p:ext>
    </p:extLst>
  </p:cSld>
  <p:clrMapOvr>
    <a:masterClrMapping/>
  </p:clrMapOvr>
  <p:transition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7CEC30-E1FA-BAB5-2F30-C9333F39E9C7}"/>
              </a:ext>
            </a:extLst>
          </p:cNvPr>
          <p:cNvSpPr/>
          <p:nvPr/>
        </p:nvSpPr>
        <p:spPr>
          <a:xfrm>
            <a:off x="7168841" y="1521060"/>
            <a:ext cx="2063931" cy="290866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EE2BAB6-8896-9F05-3FCD-0C9FCC52CA8F}"/>
              </a:ext>
            </a:extLst>
          </p:cNvPr>
          <p:cNvSpPr/>
          <p:nvPr/>
        </p:nvSpPr>
        <p:spPr>
          <a:xfrm>
            <a:off x="5009840" y="1525439"/>
            <a:ext cx="2063931" cy="290866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9E5E4B4-3930-615F-6735-93F22FC9A85C}"/>
              </a:ext>
            </a:extLst>
          </p:cNvPr>
          <p:cNvSpPr/>
          <p:nvPr/>
        </p:nvSpPr>
        <p:spPr>
          <a:xfrm>
            <a:off x="2723841" y="1525439"/>
            <a:ext cx="2063931" cy="290866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7" name="Title 106">
            <a:extLst>
              <a:ext uri="{FF2B5EF4-FFF2-40B4-BE49-F238E27FC236}">
                <a16:creationId xmlns:a16="http://schemas.microsoft.com/office/drawing/2014/main" id="{D1E3E659-4B39-4B3B-857D-E87DD151F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858" y="2377440"/>
            <a:ext cx="1939480" cy="2115505"/>
          </a:xfrm>
        </p:spPr>
        <p:txBody>
          <a:bodyPr/>
          <a:lstStyle/>
          <a:p>
            <a:r>
              <a:rPr lang="en-US"/>
              <a:t>Our team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DC14B-DBB6-4ACF-BA53-D251EAD3C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2BC79-E7F2-4BBF-A74F-3E0AF7A7A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D58A74F-4CE1-6E34-C72D-DC81359CAB5E}"/>
              </a:ext>
            </a:extLst>
          </p:cNvPr>
          <p:cNvSpPr/>
          <p:nvPr/>
        </p:nvSpPr>
        <p:spPr>
          <a:xfrm>
            <a:off x="9231496" y="1503543"/>
            <a:ext cx="2063931" cy="290866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F60D8165-C962-496B-BA18-BAE6A08C60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46431" y="3292584"/>
            <a:ext cx="2287074" cy="202764"/>
          </a:xfrm>
        </p:spPr>
        <p:txBody>
          <a:bodyPr lIns="91440" tIns="45720" rIns="91440" bIns="45720" anchor="t"/>
          <a:lstStyle/>
          <a:p>
            <a:r>
              <a:rPr lang="en-US"/>
              <a:t>Francesco Boldrini</a:t>
            </a:r>
          </a:p>
        </p:txBody>
      </p:sp>
      <p:sp>
        <p:nvSpPr>
          <p:cNvPr id="132" name="Text Placeholder 131">
            <a:extLst>
              <a:ext uri="{FF2B5EF4-FFF2-40B4-BE49-F238E27FC236}">
                <a16:creationId xmlns:a16="http://schemas.microsoft.com/office/drawing/2014/main" id="{3099AF50-4A59-41FD-9F70-EB228C3763B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582105" y="3288204"/>
            <a:ext cx="2085792" cy="274650"/>
          </a:xfrm>
        </p:spPr>
        <p:txBody>
          <a:bodyPr lIns="91440" tIns="45720" rIns="91440" bIns="45720" anchor="t"/>
          <a:lstStyle/>
          <a:p>
            <a:r>
              <a:rPr lang="en-US"/>
              <a:t>Ettore </a:t>
            </a:r>
            <a:r>
              <a:rPr lang="en-US" err="1"/>
              <a:t>ricci</a:t>
            </a:r>
          </a:p>
        </p:txBody>
      </p:sp>
      <p:sp>
        <p:nvSpPr>
          <p:cNvPr id="134" name="Text Placeholder 133">
            <a:extLst>
              <a:ext uri="{FF2B5EF4-FFF2-40B4-BE49-F238E27FC236}">
                <a16:creationId xmlns:a16="http://schemas.microsoft.com/office/drawing/2014/main" id="{E9D7AEAC-9AC3-490C-B4A9-DD26ED4EE64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15411" y="3292752"/>
            <a:ext cx="2085792" cy="274650"/>
          </a:xfrm>
        </p:spPr>
        <p:txBody>
          <a:bodyPr lIns="91440" tIns="45720" rIns="91440" bIns="45720" anchor="t"/>
          <a:lstStyle/>
          <a:p>
            <a:r>
              <a:rPr lang="en-US"/>
              <a:t>Paolo Palumbo</a:t>
            </a:r>
          </a:p>
        </p:txBody>
      </p:sp>
    </p:spTree>
    <p:extLst>
      <p:ext uri="{BB962C8B-B14F-4D97-AF65-F5344CB8AC3E}">
        <p14:creationId xmlns:p14="http://schemas.microsoft.com/office/powerpoint/2010/main" val="2069803008"/>
      </p:ext>
    </p:extLst>
  </p:cSld>
  <p:clrMapOvr>
    <a:masterClrMapping/>
  </p:clrMapOvr>
  <p:transition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EF1D37D-7D53-43D9-B054-3B3A36C7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850" y="563671"/>
            <a:ext cx="4989629" cy="2387771"/>
          </a:xfrm>
        </p:spPr>
        <p:txBody>
          <a:bodyPr/>
          <a:lstStyle/>
          <a:p>
            <a:r>
              <a:rPr lang="en-US"/>
              <a:t>Thank you 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C259BDD-35DF-471C-9AF0-858004861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lIns="91440" tIns="45720" rIns="91440" bIns="45720" anchor="ctr"/>
          <a:lstStyle/>
          <a:p>
            <a:r>
              <a:rPr lang="en-US">
                <a:ea typeface="+mj-lt"/>
                <a:cs typeface="+mj-lt"/>
              </a:rPr>
              <a:t>Travel Mate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185F1A6-517F-4333-A04B-A1833CCBA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44598"/>
      </p:ext>
    </p:extLst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Office Theme">
  <a:themeElements>
    <a:clrScheme name="Custom 18">
      <a:dk1>
        <a:sysClr val="windowText" lastClr="000000"/>
      </a:dk1>
      <a:lt1>
        <a:sysClr val="window" lastClr="FFFFFF"/>
      </a:lt1>
      <a:dk2>
        <a:srgbClr val="140A59"/>
      </a:dk2>
      <a:lt2>
        <a:srgbClr val="E7E6E6"/>
      </a:lt2>
      <a:accent1>
        <a:srgbClr val="2B0348"/>
      </a:accent1>
      <a:accent2>
        <a:srgbClr val="763788"/>
      </a:accent2>
      <a:accent3>
        <a:srgbClr val="EF050C"/>
      </a:accent3>
      <a:accent4>
        <a:srgbClr val="B01E4C"/>
      </a:accent4>
      <a:accent5>
        <a:srgbClr val="0565FA"/>
      </a:accent5>
      <a:accent6>
        <a:srgbClr val="0BE1FF"/>
      </a:accent6>
      <a:hlink>
        <a:srgbClr val="0563C1"/>
      </a:hlink>
      <a:folHlink>
        <a:srgbClr val="954F72"/>
      </a:folHlink>
    </a:clrScheme>
    <a:fontScheme name="Custom 15">
      <a:majorFont>
        <a:latin typeface="Century Gothic Bold"/>
        <a:ea typeface=""/>
        <a:cs typeface=""/>
      </a:majorFont>
      <a:minorFont>
        <a:latin typeface="Dayto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089DF1-5746-46EC-AE4D-E0FEEFA364EF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8D07AFA-56ED-494E-AC96-7D874BD7F8D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4C3B034D-ACEF-4C52-A048-622E130B9A2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TM56488565</Template>
  <Application>Microsoft Office PowerPoint</Application>
  <PresentationFormat>Widescreen</PresentationFormat>
  <Slides>42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Travel Mate</vt:lpstr>
      <vt:lpstr>In a nutshell</vt:lpstr>
      <vt:lpstr>Business Model</vt:lpstr>
      <vt:lpstr>The competition</vt:lpstr>
      <vt:lpstr>Feasibility Analysis</vt:lpstr>
      <vt:lpstr>Scope &amp; Purpose</vt:lpstr>
      <vt:lpstr>Market Feasibility</vt:lpstr>
      <vt:lpstr>Technical Feasibility</vt:lpstr>
      <vt:lpstr>Legal Feasibility</vt:lpstr>
      <vt:lpstr>Financial Feasibility</vt:lpstr>
      <vt:lpstr>Financial Feasibility</vt:lpstr>
      <vt:lpstr>Financial Feasibility</vt:lpstr>
      <vt:lpstr>Financial Feasibility</vt:lpstr>
      <vt:lpstr>Financial Feasibility</vt:lpstr>
      <vt:lpstr>Business model</vt:lpstr>
      <vt:lpstr>The start-up model</vt:lpstr>
      <vt:lpstr>Growth</vt:lpstr>
      <vt:lpstr>scalability</vt:lpstr>
      <vt:lpstr>Economic projection over 3 development phases </vt:lpstr>
      <vt:lpstr>WP</vt:lpstr>
      <vt:lpstr>WP</vt:lpstr>
      <vt:lpstr>WP</vt:lpstr>
      <vt:lpstr>WP</vt:lpstr>
      <vt:lpstr>WP</vt:lpstr>
      <vt:lpstr>WP</vt:lpstr>
      <vt:lpstr>WP</vt:lpstr>
      <vt:lpstr>WP</vt:lpstr>
      <vt:lpstr>WP</vt:lpstr>
      <vt:lpstr>WP</vt:lpstr>
      <vt:lpstr>WP</vt:lpstr>
      <vt:lpstr>WP</vt:lpstr>
      <vt:lpstr>Operational Feasibility</vt:lpstr>
      <vt:lpstr>Operational Feasibility</vt:lpstr>
      <vt:lpstr>Timeline Feasibility</vt:lpstr>
      <vt:lpstr>Two-year action plan</vt:lpstr>
      <vt:lpstr>Risk Feasibility</vt:lpstr>
      <vt:lpstr>Conclusions</vt:lpstr>
      <vt:lpstr>Why us?</vt:lpstr>
      <vt:lpstr>High-value</vt:lpstr>
      <vt:lpstr>Our competition graphic </vt:lpstr>
      <vt:lpstr>Our team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1188</cp:revision>
  <dcterms:created xsi:type="dcterms:W3CDTF">2025-07-05T14:24:00Z</dcterms:created>
  <dcterms:modified xsi:type="dcterms:W3CDTF">2025-07-29T22:45:44Z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